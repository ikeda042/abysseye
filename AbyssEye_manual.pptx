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0" r:id="rId2"/>
    <p:sldId id="256" r:id="rId3"/>
    <p:sldId id="258" r:id="rId4"/>
    <p:sldId id="259" r:id="rId5"/>
    <p:sldId id="260" r:id="rId6"/>
    <p:sldId id="261" r:id="rId7"/>
    <p:sldId id="262" r:id="rId8"/>
    <p:sldId id="263" r:id="rId9"/>
    <p:sldId id="264" r:id="rId10"/>
    <p:sldId id="269" r:id="rId11"/>
    <p:sldId id="265" r:id="rId12"/>
    <p:sldId id="266" r:id="rId13"/>
    <p:sldId id="267" r:id="rId1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749"/>
    <p:restoredTop sz="94660"/>
  </p:normalViewPr>
  <p:slideViewPr>
    <p:cSldViewPr snapToGrid="0">
      <p:cViewPr varScale="1">
        <p:scale>
          <a:sx n="118" d="100"/>
          <a:sy n="118" d="100"/>
        </p:scale>
        <p:origin x="288"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6B6300-034F-8FDC-E951-71BCBF6688A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B85D8334-2644-6F6C-112D-BADDC02E64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7D2D3304-2865-A3F6-2B57-0514FD6B547D}"/>
              </a:ext>
            </a:extLst>
          </p:cNvPr>
          <p:cNvSpPr>
            <a:spLocks noGrp="1"/>
          </p:cNvSpPr>
          <p:nvPr>
            <p:ph type="dt" sz="half" idx="10"/>
          </p:nvPr>
        </p:nvSpPr>
        <p:spPr/>
        <p:txBody>
          <a:bodyPr/>
          <a:lstStyle/>
          <a:p>
            <a:fld id="{353DD016-1D0D-2247-80B5-08889058C924}" type="datetimeFigureOut">
              <a:rPr kumimoji="1" lang="ja-JP" altLang="en-US" smtClean="0"/>
              <a:t>2026/4/12</a:t>
            </a:fld>
            <a:endParaRPr kumimoji="1" lang="ja-JP" altLang="en-US"/>
          </a:p>
        </p:txBody>
      </p:sp>
      <p:sp>
        <p:nvSpPr>
          <p:cNvPr id="5" name="フッター プレースホルダー 4">
            <a:extLst>
              <a:ext uri="{FF2B5EF4-FFF2-40B4-BE49-F238E27FC236}">
                <a16:creationId xmlns:a16="http://schemas.microsoft.com/office/drawing/2014/main" id="{6DEF12DE-276B-8FE7-0422-0EFEF30E0A1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E20D837-AAFB-A8B8-FF63-315DF5F0AEDC}"/>
              </a:ext>
            </a:extLst>
          </p:cNvPr>
          <p:cNvSpPr>
            <a:spLocks noGrp="1"/>
          </p:cNvSpPr>
          <p:nvPr>
            <p:ph type="sldNum" sz="quarter" idx="12"/>
          </p:nvPr>
        </p:nvSpPr>
        <p:spPr/>
        <p:txBody>
          <a:bodyPr/>
          <a:lstStyle/>
          <a:p>
            <a:fld id="{BECAE0C9-EA5F-A24C-867F-5B9C3B255701}" type="slidenum">
              <a:rPr kumimoji="1" lang="ja-JP" altLang="en-US" smtClean="0"/>
              <a:t>‹#›</a:t>
            </a:fld>
            <a:endParaRPr kumimoji="1" lang="ja-JP" altLang="en-US"/>
          </a:p>
        </p:txBody>
      </p:sp>
    </p:spTree>
    <p:extLst>
      <p:ext uri="{BB962C8B-B14F-4D97-AF65-F5344CB8AC3E}">
        <p14:creationId xmlns:p14="http://schemas.microsoft.com/office/powerpoint/2010/main" val="2497856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D3697B-C18A-8A3A-367B-E9511A2F964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E3BD9FF-00B3-0896-BD82-FC0116D4F87C}"/>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3469C58-7FDF-FB74-489E-2CFABE3228FE}"/>
              </a:ext>
            </a:extLst>
          </p:cNvPr>
          <p:cNvSpPr>
            <a:spLocks noGrp="1"/>
          </p:cNvSpPr>
          <p:nvPr>
            <p:ph type="dt" sz="half" idx="10"/>
          </p:nvPr>
        </p:nvSpPr>
        <p:spPr/>
        <p:txBody>
          <a:bodyPr/>
          <a:lstStyle/>
          <a:p>
            <a:fld id="{353DD016-1D0D-2247-80B5-08889058C924}" type="datetimeFigureOut">
              <a:rPr kumimoji="1" lang="ja-JP" altLang="en-US" smtClean="0"/>
              <a:t>2026/4/12</a:t>
            </a:fld>
            <a:endParaRPr kumimoji="1" lang="ja-JP" altLang="en-US"/>
          </a:p>
        </p:txBody>
      </p:sp>
      <p:sp>
        <p:nvSpPr>
          <p:cNvPr id="5" name="フッター プレースホルダー 4">
            <a:extLst>
              <a:ext uri="{FF2B5EF4-FFF2-40B4-BE49-F238E27FC236}">
                <a16:creationId xmlns:a16="http://schemas.microsoft.com/office/drawing/2014/main" id="{5AED764B-10EC-B027-37F5-9B4AA002BEF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1AAF5D5-3EE6-68C1-B3E4-259F10899FE8}"/>
              </a:ext>
            </a:extLst>
          </p:cNvPr>
          <p:cNvSpPr>
            <a:spLocks noGrp="1"/>
          </p:cNvSpPr>
          <p:nvPr>
            <p:ph type="sldNum" sz="quarter" idx="12"/>
          </p:nvPr>
        </p:nvSpPr>
        <p:spPr/>
        <p:txBody>
          <a:bodyPr/>
          <a:lstStyle/>
          <a:p>
            <a:fld id="{BECAE0C9-EA5F-A24C-867F-5B9C3B255701}" type="slidenum">
              <a:rPr kumimoji="1" lang="ja-JP" altLang="en-US" smtClean="0"/>
              <a:t>‹#›</a:t>
            </a:fld>
            <a:endParaRPr kumimoji="1" lang="ja-JP" altLang="en-US"/>
          </a:p>
        </p:txBody>
      </p:sp>
    </p:spTree>
    <p:extLst>
      <p:ext uri="{BB962C8B-B14F-4D97-AF65-F5344CB8AC3E}">
        <p14:creationId xmlns:p14="http://schemas.microsoft.com/office/powerpoint/2010/main" val="2612753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77D48D-437B-13CF-FA99-0AA5FE590E80}"/>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D45D249-2CA5-16EC-2B6A-54E4FC2F042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A9D395BE-E841-C0BB-B258-0BE4BC4F2CCC}"/>
              </a:ext>
            </a:extLst>
          </p:cNvPr>
          <p:cNvSpPr>
            <a:spLocks noGrp="1"/>
          </p:cNvSpPr>
          <p:nvPr>
            <p:ph type="dt" sz="half" idx="10"/>
          </p:nvPr>
        </p:nvSpPr>
        <p:spPr/>
        <p:txBody>
          <a:bodyPr/>
          <a:lstStyle/>
          <a:p>
            <a:fld id="{353DD016-1D0D-2247-80B5-08889058C924}" type="datetimeFigureOut">
              <a:rPr kumimoji="1" lang="ja-JP" altLang="en-US" smtClean="0"/>
              <a:t>2026/4/12</a:t>
            </a:fld>
            <a:endParaRPr kumimoji="1" lang="ja-JP" altLang="en-US"/>
          </a:p>
        </p:txBody>
      </p:sp>
      <p:sp>
        <p:nvSpPr>
          <p:cNvPr id="5" name="フッター プレースホルダー 4">
            <a:extLst>
              <a:ext uri="{FF2B5EF4-FFF2-40B4-BE49-F238E27FC236}">
                <a16:creationId xmlns:a16="http://schemas.microsoft.com/office/drawing/2014/main" id="{E173A1A5-88BD-D2F8-829C-0B33CDC18DF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785D966-5DB9-2C69-3555-975FB234086E}"/>
              </a:ext>
            </a:extLst>
          </p:cNvPr>
          <p:cNvSpPr>
            <a:spLocks noGrp="1"/>
          </p:cNvSpPr>
          <p:nvPr>
            <p:ph type="sldNum" sz="quarter" idx="12"/>
          </p:nvPr>
        </p:nvSpPr>
        <p:spPr/>
        <p:txBody>
          <a:bodyPr/>
          <a:lstStyle/>
          <a:p>
            <a:fld id="{BECAE0C9-EA5F-A24C-867F-5B9C3B255701}" type="slidenum">
              <a:rPr kumimoji="1" lang="ja-JP" altLang="en-US" smtClean="0"/>
              <a:t>‹#›</a:t>
            </a:fld>
            <a:endParaRPr kumimoji="1" lang="ja-JP" altLang="en-US"/>
          </a:p>
        </p:txBody>
      </p:sp>
    </p:spTree>
    <p:extLst>
      <p:ext uri="{BB962C8B-B14F-4D97-AF65-F5344CB8AC3E}">
        <p14:creationId xmlns:p14="http://schemas.microsoft.com/office/powerpoint/2010/main" val="1083726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13FD54-F25B-D4B2-DBC5-39A7D903185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BA29805-3EB0-EF82-9C5A-D3ED52F6A83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AAE0269-36A9-77F2-032C-FED71F4789C5}"/>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848F49C8-BF61-FAC5-36FC-DA8FEE3D3ABB}"/>
              </a:ext>
            </a:extLst>
          </p:cNvPr>
          <p:cNvSpPr>
            <a:spLocks noGrp="1"/>
          </p:cNvSpPr>
          <p:nvPr>
            <p:ph type="dt" sz="half" idx="10"/>
          </p:nvPr>
        </p:nvSpPr>
        <p:spPr/>
        <p:txBody>
          <a:bodyPr/>
          <a:lstStyle/>
          <a:p>
            <a:fld id="{353DD016-1D0D-2247-80B5-08889058C924}" type="datetimeFigureOut">
              <a:rPr kumimoji="1" lang="ja-JP" altLang="en-US" smtClean="0"/>
              <a:t>2026/4/12</a:t>
            </a:fld>
            <a:endParaRPr kumimoji="1" lang="ja-JP" altLang="en-US"/>
          </a:p>
        </p:txBody>
      </p:sp>
      <p:sp>
        <p:nvSpPr>
          <p:cNvPr id="6" name="フッター プレースホルダー 5">
            <a:extLst>
              <a:ext uri="{FF2B5EF4-FFF2-40B4-BE49-F238E27FC236}">
                <a16:creationId xmlns:a16="http://schemas.microsoft.com/office/drawing/2014/main" id="{BAC62956-1403-ACA8-484D-74D0E3E71F8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535F735-B5FE-0239-DAE9-30613797562D}"/>
              </a:ext>
            </a:extLst>
          </p:cNvPr>
          <p:cNvSpPr>
            <a:spLocks noGrp="1"/>
          </p:cNvSpPr>
          <p:nvPr>
            <p:ph type="sldNum" sz="quarter" idx="12"/>
          </p:nvPr>
        </p:nvSpPr>
        <p:spPr/>
        <p:txBody>
          <a:bodyPr/>
          <a:lstStyle/>
          <a:p>
            <a:fld id="{BECAE0C9-EA5F-A24C-867F-5B9C3B255701}" type="slidenum">
              <a:rPr kumimoji="1" lang="ja-JP" altLang="en-US" smtClean="0"/>
              <a:t>‹#›</a:t>
            </a:fld>
            <a:endParaRPr kumimoji="1" lang="ja-JP" altLang="en-US"/>
          </a:p>
        </p:txBody>
      </p:sp>
    </p:spTree>
    <p:extLst>
      <p:ext uri="{BB962C8B-B14F-4D97-AF65-F5344CB8AC3E}">
        <p14:creationId xmlns:p14="http://schemas.microsoft.com/office/powerpoint/2010/main" val="2040103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6D8902-6045-B926-56D2-4CA20EE08BC9}"/>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7EF5C41-1998-4101-457E-CD05EFB292D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F18C2D02-FD91-3AB5-0160-CB90C0B03F5B}"/>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5A7EED4-187A-6425-A4B2-4918B997F4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AE0DC230-4159-78E5-3E63-0A7C1CB69CB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D5789090-7128-7730-5E2B-E786139459D7}"/>
              </a:ext>
            </a:extLst>
          </p:cNvPr>
          <p:cNvSpPr>
            <a:spLocks noGrp="1"/>
          </p:cNvSpPr>
          <p:nvPr>
            <p:ph type="dt" sz="half" idx="10"/>
          </p:nvPr>
        </p:nvSpPr>
        <p:spPr/>
        <p:txBody>
          <a:bodyPr/>
          <a:lstStyle/>
          <a:p>
            <a:fld id="{353DD016-1D0D-2247-80B5-08889058C924}" type="datetimeFigureOut">
              <a:rPr kumimoji="1" lang="ja-JP" altLang="en-US" smtClean="0"/>
              <a:t>2026/4/12</a:t>
            </a:fld>
            <a:endParaRPr kumimoji="1" lang="ja-JP" altLang="en-US"/>
          </a:p>
        </p:txBody>
      </p:sp>
      <p:sp>
        <p:nvSpPr>
          <p:cNvPr id="8" name="フッター プレースホルダー 7">
            <a:extLst>
              <a:ext uri="{FF2B5EF4-FFF2-40B4-BE49-F238E27FC236}">
                <a16:creationId xmlns:a16="http://schemas.microsoft.com/office/drawing/2014/main" id="{4E7F7568-444A-0524-839E-B2C62E5519A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3A14B36F-BDAA-687E-93DA-2F2DE2EFBA99}"/>
              </a:ext>
            </a:extLst>
          </p:cNvPr>
          <p:cNvSpPr>
            <a:spLocks noGrp="1"/>
          </p:cNvSpPr>
          <p:nvPr>
            <p:ph type="sldNum" sz="quarter" idx="12"/>
          </p:nvPr>
        </p:nvSpPr>
        <p:spPr/>
        <p:txBody>
          <a:bodyPr/>
          <a:lstStyle/>
          <a:p>
            <a:fld id="{BECAE0C9-EA5F-A24C-867F-5B9C3B255701}" type="slidenum">
              <a:rPr kumimoji="1" lang="ja-JP" altLang="en-US" smtClean="0"/>
              <a:t>‹#›</a:t>
            </a:fld>
            <a:endParaRPr kumimoji="1" lang="ja-JP" altLang="en-US"/>
          </a:p>
        </p:txBody>
      </p:sp>
    </p:spTree>
    <p:extLst>
      <p:ext uri="{BB962C8B-B14F-4D97-AF65-F5344CB8AC3E}">
        <p14:creationId xmlns:p14="http://schemas.microsoft.com/office/powerpoint/2010/main" val="40213269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90C57F-98B6-FEEB-04FC-0EA393030A8F}"/>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09197FEB-577F-C6CE-6B47-C0C163511273}"/>
              </a:ext>
            </a:extLst>
          </p:cNvPr>
          <p:cNvSpPr>
            <a:spLocks noGrp="1"/>
          </p:cNvSpPr>
          <p:nvPr>
            <p:ph type="dt" sz="half" idx="10"/>
          </p:nvPr>
        </p:nvSpPr>
        <p:spPr/>
        <p:txBody>
          <a:bodyPr/>
          <a:lstStyle/>
          <a:p>
            <a:fld id="{353DD016-1D0D-2247-80B5-08889058C924}" type="datetimeFigureOut">
              <a:rPr kumimoji="1" lang="ja-JP" altLang="en-US" smtClean="0"/>
              <a:t>2026/4/12</a:t>
            </a:fld>
            <a:endParaRPr kumimoji="1" lang="ja-JP" altLang="en-US"/>
          </a:p>
        </p:txBody>
      </p:sp>
      <p:sp>
        <p:nvSpPr>
          <p:cNvPr id="4" name="フッター プレースホルダー 3">
            <a:extLst>
              <a:ext uri="{FF2B5EF4-FFF2-40B4-BE49-F238E27FC236}">
                <a16:creationId xmlns:a16="http://schemas.microsoft.com/office/drawing/2014/main" id="{FDBDF8F2-598C-1183-CDC6-0342EA5EADDC}"/>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5140E3B-F3CC-8875-F262-7AEF578EBF05}"/>
              </a:ext>
            </a:extLst>
          </p:cNvPr>
          <p:cNvSpPr>
            <a:spLocks noGrp="1"/>
          </p:cNvSpPr>
          <p:nvPr>
            <p:ph type="sldNum" sz="quarter" idx="12"/>
          </p:nvPr>
        </p:nvSpPr>
        <p:spPr/>
        <p:txBody>
          <a:bodyPr/>
          <a:lstStyle/>
          <a:p>
            <a:fld id="{BECAE0C9-EA5F-A24C-867F-5B9C3B255701}" type="slidenum">
              <a:rPr kumimoji="1" lang="ja-JP" altLang="en-US" smtClean="0"/>
              <a:t>‹#›</a:t>
            </a:fld>
            <a:endParaRPr kumimoji="1" lang="ja-JP" altLang="en-US"/>
          </a:p>
        </p:txBody>
      </p:sp>
    </p:spTree>
    <p:extLst>
      <p:ext uri="{BB962C8B-B14F-4D97-AF65-F5344CB8AC3E}">
        <p14:creationId xmlns:p14="http://schemas.microsoft.com/office/powerpoint/2010/main" val="11021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F840641-82A1-3305-C015-A9F3695AB2DB}"/>
              </a:ext>
            </a:extLst>
          </p:cNvPr>
          <p:cNvSpPr>
            <a:spLocks noGrp="1"/>
          </p:cNvSpPr>
          <p:nvPr>
            <p:ph type="dt" sz="half" idx="10"/>
          </p:nvPr>
        </p:nvSpPr>
        <p:spPr/>
        <p:txBody>
          <a:bodyPr/>
          <a:lstStyle/>
          <a:p>
            <a:fld id="{353DD016-1D0D-2247-80B5-08889058C924}" type="datetimeFigureOut">
              <a:rPr kumimoji="1" lang="ja-JP" altLang="en-US" smtClean="0"/>
              <a:t>2026/4/12</a:t>
            </a:fld>
            <a:endParaRPr kumimoji="1" lang="ja-JP" altLang="en-US"/>
          </a:p>
        </p:txBody>
      </p:sp>
      <p:sp>
        <p:nvSpPr>
          <p:cNvPr id="3" name="フッター プレースホルダー 2">
            <a:extLst>
              <a:ext uri="{FF2B5EF4-FFF2-40B4-BE49-F238E27FC236}">
                <a16:creationId xmlns:a16="http://schemas.microsoft.com/office/drawing/2014/main" id="{6F57F126-E276-C2C3-B3C6-CA5F959D241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B48C17C-932F-AB45-9DAF-21B4B12A380E}"/>
              </a:ext>
            </a:extLst>
          </p:cNvPr>
          <p:cNvSpPr>
            <a:spLocks noGrp="1"/>
          </p:cNvSpPr>
          <p:nvPr>
            <p:ph type="sldNum" sz="quarter" idx="12"/>
          </p:nvPr>
        </p:nvSpPr>
        <p:spPr/>
        <p:txBody>
          <a:bodyPr/>
          <a:lstStyle/>
          <a:p>
            <a:fld id="{BECAE0C9-EA5F-A24C-867F-5B9C3B255701}" type="slidenum">
              <a:rPr kumimoji="1" lang="ja-JP" altLang="en-US" smtClean="0"/>
              <a:t>‹#›</a:t>
            </a:fld>
            <a:endParaRPr kumimoji="1" lang="ja-JP" altLang="en-US"/>
          </a:p>
        </p:txBody>
      </p:sp>
    </p:spTree>
    <p:extLst>
      <p:ext uri="{BB962C8B-B14F-4D97-AF65-F5344CB8AC3E}">
        <p14:creationId xmlns:p14="http://schemas.microsoft.com/office/powerpoint/2010/main" val="482910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F30E495-3DAD-7AB8-90DC-DE787B2BA11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863858B-F6E5-374E-33EC-818F340E20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99C63C17-3F48-E9A9-16D6-E0E8997326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EC8ACA0-F465-A413-FD25-9BFCBDF692B9}"/>
              </a:ext>
            </a:extLst>
          </p:cNvPr>
          <p:cNvSpPr>
            <a:spLocks noGrp="1"/>
          </p:cNvSpPr>
          <p:nvPr>
            <p:ph type="dt" sz="half" idx="10"/>
          </p:nvPr>
        </p:nvSpPr>
        <p:spPr/>
        <p:txBody>
          <a:bodyPr/>
          <a:lstStyle/>
          <a:p>
            <a:fld id="{353DD016-1D0D-2247-80B5-08889058C924}" type="datetimeFigureOut">
              <a:rPr kumimoji="1" lang="ja-JP" altLang="en-US" smtClean="0"/>
              <a:t>2026/4/12</a:t>
            </a:fld>
            <a:endParaRPr kumimoji="1" lang="ja-JP" altLang="en-US"/>
          </a:p>
        </p:txBody>
      </p:sp>
      <p:sp>
        <p:nvSpPr>
          <p:cNvPr id="6" name="フッター プレースホルダー 5">
            <a:extLst>
              <a:ext uri="{FF2B5EF4-FFF2-40B4-BE49-F238E27FC236}">
                <a16:creationId xmlns:a16="http://schemas.microsoft.com/office/drawing/2014/main" id="{4FA627C1-8C40-9E6A-5F41-95EC70EB7E9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3172E04-F2E5-1580-3599-0185CCA68285}"/>
              </a:ext>
            </a:extLst>
          </p:cNvPr>
          <p:cNvSpPr>
            <a:spLocks noGrp="1"/>
          </p:cNvSpPr>
          <p:nvPr>
            <p:ph type="sldNum" sz="quarter" idx="12"/>
          </p:nvPr>
        </p:nvSpPr>
        <p:spPr/>
        <p:txBody>
          <a:bodyPr/>
          <a:lstStyle/>
          <a:p>
            <a:fld id="{BECAE0C9-EA5F-A24C-867F-5B9C3B255701}" type="slidenum">
              <a:rPr kumimoji="1" lang="ja-JP" altLang="en-US" smtClean="0"/>
              <a:t>‹#›</a:t>
            </a:fld>
            <a:endParaRPr kumimoji="1" lang="ja-JP" altLang="en-US"/>
          </a:p>
        </p:txBody>
      </p:sp>
    </p:spTree>
    <p:extLst>
      <p:ext uri="{BB962C8B-B14F-4D97-AF65-F5344CB8AC3E}">
        <p14:creationId xmlns:p14="http://schemas.microsoft.com/office/powerpoint/2010/main" val="912178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E25ABBF-1E55-7130-EA1D-62F4B649329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967BB1EF-ECE3-4353-542A-9A7F0C5D14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9E45EC21-84C7-EFB3-9580-2F130B4944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8526FD7-D97C-C93A-923C-FAFDE46B6DAD}"/>
              </a:ext>
            </a:extLst>
          </p:cNvPr>
          <p:cNvSpPr>
            <a:spLocks noGrp="1"/>
          </p:cNvSpPr>
          <p:nvPr>
            <p:ph type="dt" sz="half" idx="10"/>
          </p:nvPr>
        </p:nvSpPr>
        <p:spPr/>
        <p:txBody>
          <a:bodyPr/>
          <a:lstStyle/>
          <a:p>
            <a:fld id="{353DD016-1D0D-2247-80B5-08889058C924}" type="datetimeFigureOut">
              <a:rPr kumimoji="1" lang="ja-JP" altLang="en-US" smtClean="0"/>
              <a:t>2026/4/12</a:t>
            </a:fld>
            <a:endParaRPr kumimoji="1" lang="ja-JP" altLang="en-US"/>
          </a:p>
        </p:txBody>
      </p:sp>
      <p:sp>
        <p:nvSpPr>
          <p:cNvPr id="6" name="フッター プレースホルダー 5">
            <a:extLst>
              <a:ext uri="{FF2B5EF4-FFF2-40B4-BE49-F238E27FC236}">
                <a16:creationId xmlns:a16="http://schemas.microsoft.com/office/drawing/2014/main" id="{5E44E981-8867-F2A1-F436-D20D831037F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974B43A-A19A-B0C3-5197-A7DE1EC3848D}"/>
              </a:ext>
            </a:extLst>
          </p:cNvPr>
          <p:cNvSpPr>
            <a:spLocks noGrp="1"/>
          </p:cNvSpPr>
          <p:nvPr>
            <p:ph type="sldNum" sz="quarter" idx="12"/>
          </p:nvPr>
        </p:nvSpPr>
        <p:spPr/>
        <p:txBody>
          <a:bodyPr/>
          <a:lstStyle/>
          <a:p>
            <a:fld id="{BECAE0C9-EA5F-A24C-867F-5B9C3B255701}" type="slidenum">
              <a:rPr kumimoji="1" lang="ja-JP" altLang="en-US" smtClean="0"/>
              <a:t>‹#›</a:t>
            </a:fld>
            <a:endParaRPr kumimoji="1" lang="ja-JP" altLang="en-US"/>
          </a:p>
        </p:txBody>
      </p:sp>
    </p:spTree>
    <p:extLst>
      <p:ext uri="{BB962C8B-B14F-4D97-AF65-F5344CB8AC3E}">
        <p14:creationId xmlns:p14="http://schemas.microsoft.com/office/powerpoint/2010/main" val="4166153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072FAB-3341-DBC0-27AB-B0B6F114B6F9}"/>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2CB153F-A31D-4D97-1AAE-28DE35ACE65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B01A696-2690-9B51-DFC1-6AC1BE13216C}"/>
              </a:ext>
            </a:extLst>
          </p:cNvPr>
          <p:cNvSpPr>
            <a:spLocks noGrp="1"/>
          </p:cNvSpPr>
          <p:nvPr>
            <p:ph type="dt" sz="half" idx="10"/>
          </p:nvPr>
        </p:nvSpPr>
        <p:spPr/>
        <p:txBody>
          <a:bodyPr/>
          <a:lstStyle/>
          <a:p>
            <a:fld id="{353DD016-1D0D-2247-80B5-08889058C924}" type="datetimeFigureOut">
              <a:rPr kumimoji="1" lang="ja-JP" altLang="en-US" smtClean="0"/>
              <a:t>2026/4/12</a:t>
            </a:fld>
            <a:endParaRPr kumimoji="1" lang="ja-JP" altLang="en-US"/>
          </a:p>
        </p:txBody>
      </p:sp>
      <p:sp>
        <p:nvSpPr>
          <p:cNvPr id="5" name="フッター プレースホルダー 4">
            <a:extLst>
              <a:ext uri="{FF2B5EF4-FFF2-40B4-BE49-F238E27FC236}">
                <a16:creationId xmlns:a16="http://schemas.microsoft.com/office/drawing/2014/main" id="{06C979BF-F07C-0C7E-2E64-A8C3E651B2F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415B742-B137-8B3C-65DB-1B2A5A878A52}"/>
              </a:ext>
            </a:extLst>
          </p:cNvPr>
          <p:cNvSpPr>
            <a:spLocks noGrp="1"/>
          </p:cNvSpPr>
          <p:nvPr>
            <p:ph type="sldNum" sz="quarter" idx="12"/>
          </p:nvPr>
        </p:nvSpPr>
        <p:spPr/>
        <p:txBody>
          <a:bodyPr/>
          <a:lstStyle/>
          <a:p>
            <a:fld id="{BECAE0C9-EA5F-A24C-867F-5B9C3B255701}" type="slidenum">
              <a:rPr kumimoji="1" lang="ja-JP" altLang="en-US" smtClean="0"/>
              <a:t>‹#›</a:t>
            </a:fld>
            <a:endParaRPr kumimoji="1" lang="ja-JP" altLang="en-US"/>
          </a:p>
        </p:txBody>
      </p:sp>
    </p:spTree>
    <p:extLst>
      <p:ext uri="{BB962C8B-B14F-4D97-AF65-F5344CB8AC3E}">
        <p14:creationId xmlns:p14="http://schemas.microsoft.com/office/powerpoint/2010/main" val="27901408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F7812F20-8F06-A98C-9E96-9DB25749B3FB}"/>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5B3BC96-A4BD-79FD-BBCD-D95176BB16F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6D0B900-008A-93F2-29F4-061E5B04FB65}"/>
              </a:ext>
            </a:extLst>
          </p:cNvPr>
          <p:cNvSpPr>
            <a:spLocks noGrp="1"/>
          </p:cNvSpPr>
          <p:nvPr>
            <p:ph type="dt" sz="half" idx="10"/>
          </p:nvPr>
        </p:nvSpPr>
        <p:spPr/>
        <p:txBody>
          <a:bodyPr/>
          <a:lstStyle/>
          <a:p>
            <a:fld id="{353DD016-1D0D-2247-80B5-08889058C924}" type="datetimeFigureOut">
              <a:rPr kumimoji="1" lang="ja-JP" altLang="en-US" smtClean="0"/>
              <a:t>2026/4/12</a:t>
            </a:fld>
            <a:endParaRPr kumimoji="1" lang="ja-JP" altLang="en-US"/>
          </a:p>
        </p:txBody>
      </p:sp>
      <p:sp>
        <p:nvSpPr>
          <p:cNvPr id="5" name="フッター プレースホルダー 4">
            <a:extLst>
              <a:ext uri="{FF2B5EF4-FFF2-40B4-BE49-F238E27FC236}">
                <a16:creationId xmlns:a16="http://schemas.microsoft.com/office/drawing/2014/main" id="{F502C6EE-F737-9619-1418-0B1E300C117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22753CB-1A8B-7A68-489D-24437CC4EDC4}"/>
              </a:ext>
            </a:extLst>
          </p:cNvPr>
          <p:cNvSpPr>
            <a:spLocks noGrp="1"/>
          </p:cNvSpPr>
          <p:nvPr>
            <p:ph type="sldNum" sz="quarter" idx="12"/>
          </p:nvPr>
        </p:nvSpPr>
        <p:spPr/>
        <p:txBody>
          <a:bodyPr/>
          <a:lstStyle/>
          <a:p>
            <a:fld id="{BECAE0C9-EA5F-A24C-867F-5B9C3B255701}" type="slidenum">
              <a:rPr kumimoji="1" lang="ja-JP" altLang="en-US" smtClean="0"/>
              <a:t>‹#›</a:t>
            </a:fld>
            <a:endParaRPr kumimoji="1" lang="ja-JP" altLang="en-US"/>
          </a:p>
        </p:txBody>
      </p:sp>
    </p:spTree>
    <p:extLst>
      <p:ext uri="{BB962C8B-B14F-4D97-AF65-F5344CB8AC3E}">
        <p14:creationId xmlns:p14="http://schemas.microsoft.com/office/powerpoint/2010/main" val="246679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9DE9EFD-6181-0E85-1446-053EBA0CB5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E4341D5-2194-619A-F76B-9E0DDC6C5E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0036BA2-FB1B-26FB-1B24-813F7F3784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3DD016-1D0D-2247-80B5-08889058C924}" type="datetimeFigureOut">
              <a:rPr kumimoji="1" lang="ja-JP" altLang="en-US" smtClean="0"/>
              <a:t>2026/4/12</a:t>
            </a:fld>
            <a:endParaRPr kumimoji="1" lang="ja-JP" altLang="en-US"/>
          </a:p>
        </p:txBody>
      </p:sp>
      <p:sp>
        <p:nvSpPr>
          <p:cNvPr id="5" name="フッター プレースホルダー 4">
            <a:extLst>
              <a:ext uri="{FF2B5EF4-FFF2-40B4-BE49-F238E27FC236}">
                <a16:creationId xmlns:a16="http://schemas.microsoft.com/office/drawing/2014/main" id="{55397221-739E-43DC-E027-A5859D6AE8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58DD17E-0735-4250-1F07-C08A2E846F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ECAE0C9-EA5F-A24C-867F-5B9C3B255701}" type="slidenum">
              <a:rPr kumimoji="1" lang="ja-JP" altLang="en-US" smtClean="0"/>
              <a:t>‹#›</a:t>
            </a:fld>
            <a:endParaRPr kumimoji="1" lang="ja-JP" altLang="en-US"/>
          </a:p>
        </p:txBody>
      </p:sp>
    </p:spTree>
    <p:extLst>
      <p:ext uri="{BB962C8B-B14F-4D97-AF65-F5344CB8AC3E}">
        <p14:creationId xmlns:p14="http://schemas.microsoft.com/office/powerpoint/2010/main" val="22944918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0838064C-B937-1E68-5A70-1F5A8C3EA49A}"/>
              </a:ext>
            </a:extLst>
          </p:cNvPr>
          <p:cNvSpPr txBox="1"/>
          <p:nvPr/>
        </p:nvSpPr>
        <p:spPr>
          <a:xfrm>
            <a:off x="220381" y="78035"/>
            <a:ext cx="1723549" cy="461665"/>
          </a:xfrm>
          <a:prstGeom prst="rect">
            <a:avLst/>
          </a:prstGeom>
          <a:noFill/>
        </p:spPr>
        <p:txBody>
          <a:bodyPr wrap="none" rtlCol="0">
            <a:spAutoFit/>
          </a:bodyPr>
          <a:lstStyle/>
          <a:p>
            <a:r>
              <a:rPr lang="ja-JP" altLang="en-US" sz="2400" b="1"/>
              <a:t>まず初めに</a:t>
            </a:r>
            <a:endParaRPr kumimoji="1" lang="ja-JP" altLang="en-US" sz="2400" b="1"/>
          </a:p>
        </p:txBody>
      </p:sp>
      <p:cxnSp>
        <p:nvCxnSpPr>
          <p:cNvPr id="6" name="直線コネクタ 5">
            <a:extLst>
              <a:ext uri="{FF2B5EF4-FFF2-40B4-BE49-F238E27FC236}">
                <a16:creationId xmlns:a16="http://schemas.microsoft.com/office/drawing/2014/main" id="{CC3BB264-17C9-6C62-2432-64C67C7B4B96}"/>
              </a:ext>
            </a:extLst>
          </p:cNvPr>
          <p:cNvCxnSpPr>
            <a:cxnSpLocks/>
          </p:cNvCxnSpPr>
          <p:nvPr/>
        </p:nvCxnSpPr>
        <p:spPr>
          <a:xfrm>
            <a:off x="0" y="602796"/>
            <a:ext cx="12192000" cy="0"/>
          </a:xfrm>
          <a:prstGeom prst="line">
            <a:avLst/>
          </a:prstGeom>
          <a:ln w="19050"/>
        </p:spPr>
        <p:style>
          <a:lnRef idx="1">
            <a:schemeClr val="accent6"/>
          </a:lnRef>
          <a:fillRef idx="0">
            <a:schemeClr val="accent6"/>
          </a:fillRef>
          <a:effectRef idx="0">
            <a:schemeClr val="accent6"/>
          </a:effectRef>
          <a:fontRef idx="minor">
            <a:schemeClr val="tx1"/>
          </a:fontRef>
        </p:style>
      </p:cxnSp>
      <p:pic>
        <p:nvPicPr>
          <p:cNvPr id="8" name="図 7">
            <a:extLst>
              <a:ext uri="{FF2B5EF4-FFF2-40B4-BE49-F238E27FC236}">
                <a16:creationId xmlns:a16="http://schemas.microsoft.com/office/drawing/2014/main" id="{BBDF5269-6C57-3A76-F6A5-4F07E2DAE758}"/>
              </a:ext>
            </a:extLst>
          </p:cNvPr>
          <p:cNvPicPr>
            <a:picLocks noChangeAspect="1"/>
          </p:cNvPicPr>
          <p:nvPr/>
        </p:nvPicPr>
        <p:blipFill>
          <a:blip r:embed="rId2"/>
          <a:stretch>
            <a:fillRect/>
          </a:stretch>
        </p:blipFill>
        <p:spPr>
          <a:xfrm>
            <a:off x="7023238" y="4182857"/>
            <a:ext cx="4604433" cy="2589994"/>
          </a:xfrm>
          <a:prstGeom prst="rect">
            <a:avLst/>
          </a:prstGeom>
        </p:spPr>
      </p:pic>
      <p:sp>
        <p:nvSpPr>
          <p:cNvPr id="11" name="テキスト ボックス 10">
            <a:extLst>
              <a:ext uri="{FF2B5EF4-FFF2-40B4-BE49-F238E27FC236}">
                <a16:creationId xmlns:a16="http://schemas.microsoft.com/office/drawing/2014/main" id="{22411CC5-0D1E-EDD1-604F-A24634549E4D}"/>
              </a:ext>
            </a:extLst>
          </p:cNvPr>
          <p:cNvSpPr txBox="1"/>
          <p:nvPr/>
        </p:nvSpPr>
        <p:spPr>
          <a:xfrm>
            <a:off x="220382" y="2806452"/>
            <a:ext cx="7784136" cy="369332"/>
          </a:xfrm>
          <a:prstGeom prst="rect">
            <a:avLst/>
          </a:prstGeom>
          <a:noFill/>
        </p:spPr>
        <p:txBody>
          <a:bodyPr wrap="square" rtlCol="0">
            <a:spAutoFit/>
          </a:bodyPr>
          <a:lstStyle/>
          <a:p>
            <a:r>
              <a:rPr lang="en-US" altLang="ja-JP" dirty="0">
                <a:highlight>
                  <a:srgbClr val="FFFF00"/>
                </a:highlight>
              </a:rPr>
              <a:t>git clone -b AbyssEye-Neo https://</a:t>
            </a:r>
            <a:r>
              <a:rPr lang="en-US" altLang="ja-JP" dirty="0" err="1">
                <a:highlight>
                  <a:srgbClr val="FFFF00"/>
                </a:highlight>
              </a:rPr>
              <a:t>github.com</a:t>
            </a:r>
            <a:r>
              <a:rPr lang="en-US" altLang="ja-JP" dirty="0">
                <a:highlight>
                  <a:srgbClr val="FFFF00"/>
                </a:highlight>
              </a:rPr>
              <a:t>/Gashu884/</a:t>
            </a:r>
            <a:r>
              <a:rPr lang="en-US" altLang="ja-JP" dirty="0" err="1">
                <a:highlight>
                  <a:srgbClr val="FFFF00"/>
                </a:highlight>
              </a:rPr>
              <a:t>AbyssEye.git</a:t>
            </a:r>
            <a:endParaRPr lang="en-US" altLang="ja-JP" dirty="0">
              <a:highlight>
                <a:srgbClr val="FFFF00"/>
              </a:highlight>
            </a:endParaRPr>
          </a:p>
        </p:txBody>
      </p:sp>
      <p:sp>
        <p:nvSpPr>
          <p:cNvPr id="13" name="テキスト ボックス 12">
            <a:extLst>
              <a:ext uri="{FF2B5EF4-FFF2-40B4-BE49-F238E27FC236}">
                <a16:creationId xmlns:a16="http://schemas.microsoft.com/office/drawing/2014/main" id="{DA81A5F1-2F8B-F9EA-2D63-DC5752D6F7DE}"/>
              </a:ext>
            </a:extLst>
          </p:cNvPr>
          <p:cNvSpPr txBox="1"/>
          <p:nvPr/>
        </p:nvSpPr>
        <p:spPr>
          <a:xfrm>
            <a:off x="220381" y="750951"/>
            <a:ext cx="12261690" cy="369332"/>
          </a:xfrm>
          <a:prstGeom prst="rect">
            <a:avLst/>
          </a:prstGeom>
          <a:noFill/>
        </p:spPr>
        <p:txBody>
          <a:bodyPr wrap="none" rtlCol="0">
            <a:spAutoFit/>
          </a:bodyPr>
          <a:lstStyle/>
          <a:p>
            <a:r>
              <a:rPr kumimoji="1" lang="ja-JP" altLang="en-US"/>
              <a:t>今後、更新の反映を円滑に行うことができるように新しい</a:t>
            </a:r>
            <a:r>
              <a:rPr kumimoji="1" lang="en-US" altLang="ja-JP" dirty="0"/>
              <a:t>AbyssEye</a:t>
            </a:r>
            <a:r>
              <a:rPr kumimoji="1" lang="ja-JP" altLang="en-US"/>
              <a:t>を</a:t>
            </a:r>
            <a:r>
              <a:rPr lang="en-US" altLang="ja-JP" dirty="0" err="1"/>
              <a:t>G</a:t>
            </a:r>
            <a:r>
              <a:rPr kumimoji="1" lang="en-US" altLang="ja-JP" dirty="0" err="1"/>
              <a:t>ithub</a:t>
            </a:r>
            <a:r>
              <a:rPr kumimoji="1" lang="ja-JP" altLang="en-US"/>
              <a:t>からダウンロードしていただきます。</a:t>
            </a:r>
          </a:p>
        </p:txBody>
      </p:sp>
      <p:sp>
        <p:nvSpPr>
          <p:cNvPr id="14" name="テキスト ボックス 13">
            <a:extLst>
              <a:ext uri="{FF2B5EF4-FFF2-40B4-BE49-F238E27FC236}">
                <a16:creationId xmlns:a16="http://schemas.microsoft.com/office/drawing/2014/main" id="{6E48FE70-5C63-49BA-A8D8-5FD490D39778}"/>
              </a:ext>
            </a:extLst>
          </p:cNvPr>
          <p:cNvSpPr txBox="1"/>
          <p:nvPr/>
        </p:nvSpPr>
        <p:spPr>
          <a:xfrm>
            <a:off x="220381" y="2364692"/>
            <a:ext cx="10761786" cy="369332"/>
          </a:xfrm>
          <a:prstGeom prst="rect">
            <a:avLst/>
          </a:prstGeom>
          <a:noFill/>
        </p:spPr>
        <p:txBody>
          <a:bodyPr wrap="square" rtlCol="0">
            <a:spAutoFit/>
          </a:bodyPr>
          <a:lstStyle/>
          <a:p>
            <a:r>
              <a:rPr kumimoji="1" lang="en-US" altLang="ja-JP" dirty="0"/>
              <a:t>Docker</a:t>
            </a:r>
            <a:r>
              <a:rPr kumimoji="1" lang="ja-JP" altLang="en-US"/>
              <a:t>環境下のデスクトップディレクトリ下のターミナルで以下のコマンドを実行してください</a:t>
            </a:r>
          </a:p>
        </p:txBody>
      </p:sp>
      <p:sp>
        <p:nvSpPr>
          <p:cNvPr id="15" name="テキスト ボックス 14">
            <a:extLst>
              <a:ext uri="{FF2B5EF4-FFF2-40B4-BE49-F238E27FC236}">
                <a16:creationId xmlns:a16="http://schemas.microsoft.com/office/drawing/2014/main" id="{CBF39DC6-D406-4790-1F8B-F0006E733706}"/>
              </a:ext>
            </a:extLst>
          </p:cNvPr>
          <p:cNvSpPr txBox="1"/>
          <p:nvPr/>
        </p:nvSpPr>
        <p:spPr>
          <a:xfrm>
            <a:off x="220381" y="1256643"/>
            <a:ext cx="10520829" cy="646331"/>
          </a:xfrm>
          <a:prstGeom prst="rect">
            <a:avLst/>
          </a:prstGeom>
          <a:noFill/>
        </p:spPr>
        <p:txBody>
          <a:bodyPr wrap="none" rtlCol="0">
            <a:spAutoFit/>
          </a:bodyPr>
          <a:lstStyle/>
          <a:p>
            <a:r>
              <a:rPr lang="ja-JP" altLang="en-US"/>
              <a:t>ダウンロードのために、共同編集の許可を付与したいので</a:t>
            </a:r>
            <a:r>
              <a:rPr lang="en-US" altLang="ja-JP" dirty="0" err="1"/>
              <a:t>Github</a:t>
            </a:r>
            <a:r>
              <a:rPr lang="ja-JP" altLang="en-US"/>
              <a:t>のアカウントを持っていましたら</a:t>
            </a:r>
            <a:endParaRPr lang="en-US" altLang="ja-JP" dirty="0"/>
          </a:p>
          <a:p>
            <a:r>
              <a:rPr lang="ja-JP" altLang="en-US"/>
              <a:t>メールアドレス・名前を教えてください。持っていない場合はお手数ですが、登録をお願いします。</a:t>
            </a:r>
            <a:endParaRPr kumimoji="1" lang="ja-JP" altLang="en-US"/>
          </a:p>
        </p:txBody>
      </p:sp>
      <p:sp>
        <p:nvSpPr>
          <p:cNvPr id="18" name="テキスト ボックス 17">
            <a:extLst>
              <a:ext uri="{FF2B5EF4-FFF2-40B4-BE49-F238E27FC236}">
                <a16:creationId xmlns:a16="http://schemas.microsoft.com/office/drawing/2014/main" id="{274EFF84-362F-13EF-E97D-1CCF18E7E3ED}"/>
              </a:ext>
            </a:extLst>
          </p:cNvPr>
          <p:cNvSpPr txBox="1"/>
          <p:nvPr/>
        </p:nvSpPr>
        <p:spPr>
          <a:xfrm>
            <a:off x="220381" y="2051630"/>
            <a:ext cx="2723823" cy="369332"/>
          </a:xfrm>
          <a:prstGeom prst="rect">
            <a:avLst/>
          </a:prstGeom>
          <a:noFill/>
        </p:spPr>
        <p:txBody>
          <a:bodyPr wrap="none" rtlCol="0">
            <a:spAutoFit/>
          </a:bodyPr>
          <a:lstStyle/>
          <a:p>
            <a:r>
              <a:rPr kumimoji="1" lang="ja-JP" altLang="en-US"/>
              <a:t>許可が付与されましたら</a:t>
            </a:r>
          </a:p>
        </p:txBody>
      </p:sp>
      <p:sp>
        <p:nvSpPr>
          <p:cNvPr id="19" name="テキスト ボックス 18">
            <a:extLst>
              <a:ext uri="{FF2B5EF4-FFF2-40B4-BE49-F238E27FC236}">
                <a16:creationId xmlns:a16="http://schemas.microsoft.com/office/drawing/2014/main" id="{70A2A73A-3C5E-D6E9-49C7-A3656D932A47}"/>
              </a:ext>
            </a:extLst>
          </p:cNvPr>
          <p:cNvSpPr txBox="1"/>
          <p:nvPr/>
        </p:nvSpPr>
        <p:spPr>
          <a:xfrm>
            <a:off x="220381" y="3259420"/>
            <a:ext cx="10016197" cy="646331"/>
          </a:xfrm>
          <a:prstGeom prst="rect">
            <a:avLst/>
          </a:prstGeom>
          <a:noFill/>
        </p:spPr>
        <p:txBody>
          <a:bodyPr wrap="square" rtlCol="0">
            <a:spAutoFit/>
          </a:bodyPr>
          <a:lstStyle/>
          <a:p>
            <a:r>
              <a:rPr lang="ja-JP" altLang="en-US"/>
              <a:t>新しく</a:t>
            </a:r>
            <a:r>
              <a:rPr lang="en-US" altLang="ja-JP" dirty="0"/>
              <a:t>AbyssEye</a:t>
            </a:r>
            <a:r>
              <a:rPr lang="ja-JP" altLang="en-US"/>
              <a:t>ディレクトリが作成されますので、内包されている</a:t>
            </a:r>
            <a:r>
              <a:rPr lang="en-US" altLang="ja-JP" dirty="0" err="1"/>
              <a:t>README.md</a:t>
            </a:r>
            <a:r>
              <a:rPr lang="ja-JP" altLang="en-US"/>
              <a:t>を読みながらセットアップを行なっていただけると幸いです。</a:t>
            </a:r>
            <a:endParaRPr lang="en-US" altLang="ja-JP" dirty="0"/>
          </a:p>
        </p:txBody>
      </p:sp>
      <p:sp>
        <p:nvSpPr>
          <p:cNvPr id="20" name="テキスト ボックス 19">
            <a:extLst>
              <a:ext uri="{FF2B5EF4-FFF2-40B4-BE49-F238E27FC236}">
                <a16:creationId xmlns:a16="http://schemas.microsoft.com/office/drawing/2014/main" id="{F973A775-7E54-8673-8393-8361C05F0342}"/>
              </a:ext>
            </a:extLst>
          </p:cNvPr>
          <p:cNvSpPr txBox="1"/>
          <p:nvPr/>
        </p:nvSpPr>
        <p:spPr>
          <a:xfrm>
            <a:off x="220382" y="4182857"/>
            <a:ext cx="5139410" cy="923330"/>
          </a:xfrm>
          <a:prstGeom prst="rect">
            <a:avLst/>
          </a:prstGeom>
          <a:noFill/>
        </p:spPr>
        <p:txBody>
          <a:bodyPr wrap="square" rtlCol="0">
            <a:spAutoFit/>
          </a:bodyPr>
          <a:lstStyle/>
          <a:p>
            <a:r>
              <a:rPr lang="ja-JP" altLang="en-US"/>
              <a:t>ご不明な点があれば何でもお聞きください。</a:t>
            </a:r>
            <a:endParaRPr lang="en-US" altLang="ja-JP" dirty="0"/>
          </a:p>
          <a:p>
            <a:endParaRPr lang="en-US" altLang="ja-JP" dirty="0"/>
          </a:p>
          <a:p>
            <a:r>
              <a:rPr lang="ja-JP" altLang="en-US"/>
              <a:t>よろしくお願いいたします。</a:t>
            </a:r>
            <a:endParaRPr lang="en-US" altLang="ja-JP" dirty="0"/>
          </a:p>
        </p:txBody>
      </p:sp>
      <p:sp>
        <p:nvSpPr>
          <p:cNvPr id="21" name="テキスト ボックス 20">
            <a:extLst>
              <a:ext uri="{FF2B5EF4-FFF2-40B4-BE49-F238E27FC236}">
                <a16:creationId xmlns:a16="http://schemas.microsoft.com/office/drawing/2014/main" id="{FD4D33D2-D4F9-413B-FB5E-6072B3A792A9}"/>
              </a:ext>
            </a:extLst>
          </p:cNvPr>
          <p:cNvSpPr txBox="1"/>
          <p:nvPr/>
        </p:nvSpPr>
        <p:spPr>
          <a:xfrm>
            <a:off x="7023238" y="3859638"/>
            <a:ext cx="1822935" cy="369332"/>
          </a:xfrm>
          <a:prstGeom prst="rect">
            <a:avLst/>
          </a:prstGeom>
          <a:noFill/>
        </p:spPr>
        <p:txBody>
          <a:bodyPr wrap="none" rtlCol="0">
            <a:spAutoFit/>
          </a:bodyPr>
          <a:lstStyle/>
          <a:p>
            <a:r>
              <a:rPr kumimoji="1" lang="en-US" altLang="ja-JP" dirty="0" err="1"/>
              <a:t>Github</a:t>
            </a:r>
            <a:r>
              <a:rPr kumimoji="1" lang="ja-JP" altLang="en-US"/>
              <a:t>のページ</a:t>
            </a:r>
          </a:p>
        </p:txBody>
      </p:sp>
    </p:spTree>
    <p:extLst>
      <p:ext uri="{BB962C8B-B14F-4D97-AF65-F5344CB8AC3E}">
        <p14:creationId xmlns:p14="http://schemas.microsoft.com/office/powerpoint/2010/main" val="3125375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E1120749-3748-1725-687D-A2A5B41D727A}"/>
              </a:ext>
            </a:extLst>
          </p:cNvPr>
          <p:cNvPicPr>
            <a:picLocks noChangeAspect="1"/>
          </p:cNvPicPr>
          <p:nvPr/>
        </p:nvPicPr>
        <p:blipFill>
          <a:blip r:embed="rId2"/>
          <a:stretch>
            <a:fillRect/>
          </a:stretch>
        </p:blipFill>
        <p:spPr>
          <a:xfrm>
            <a:off x="0" y="666186"/>
            <a:ext cx="7772400" cy="4371975"/>
          </a:xfrm>
          <a:prstGeom prst="rect">
            <a:avLst/>
          </a:prstGeom>
        </p:spPr>
      </p:pic>
      <p:sp>
        <p:nvSpPr>
          <p:cNvPr id="11" name="テキスト ボックス 10">
            <a:extLst>
              <a:ext uri="{FF2B5EF4-FFF2-40B4-BE49-F238E27FC236}">
                <a16:creationId xmlns:a16="http://schemas.microsoft.com/office/drawing/2014/main" id="{89CB5899-1EC5-076F-1253-A3A3E6741DAD}"/>
              </a:ext>
            </a:extLst>
          </p:cNvPr>
          <p:cNvSpPr txBox="1"/>
          <p:nvPr/>
        </p:nvSpPr>
        <p:spPr>
          <a:xfrm>
            <a:off x="648269" y="2018976"/>
            <a:ext cx="415498" cy="369332"/>
          </a:xfrm>
          <a:prstGeom prst="rect">
            <a:avLst/>
          </a:prstGeom>
          <a:noFill/>
        </p:spPr>
        <p:txBody>
          <a:bodyPr wrap="none" rtlCol="0">
            <a:spAutoFit/>
          </a:bodyPr>
          <a:lstStyle/>
          <a:p>
            <a:r>
              <a:rPr lang="en-US" altLang="ja-JP" dirty="0">
                <a:solidFill>
                  <a:srgbClr val="C00000"/>
                </a:solidFill>
              </a:rPr>
              <a:t>①</a:t>
            </a:r>
            <a:endParaRPr kumimoji="1" lang="en-US" altLang="ja-JP" dirty="0">
              <a:solidFill>
                <a:srgbClr val="C00000"/>
              </a:solidFill>
            </a:endParaRPr>
          </a:p>
        </p:txBody>
      </p:sp>
      <p:sp>
        <p:nvSpPr>
          <p:cNvPr id="12" name="テキスト ボックス 11">
            <a:extLst>
              <a:ext uri="{FF2B5EF4-FFF2-40B4-BE49-F238E27FC236}">
                <a16:creationId xmlns:a16="http://schemas.microsoft.com/office/drawing/2014/main" id="{52E26114-15E4-0904-8E5D-B5F91A139398}"/>
              </a:ext>
            </a:extLst>
          </p:cNvPr>
          <p:cNvSpPr txBox="1"/>
          <p:nvPr/>
        </p:nvSpPr>
        <p:spPr>
          <a:xfrm>
            <a:off x="4002585" y="2018976"/>
            <a:ext cx="415498" cy="369332"/>
          </a:xfrm>
          <a:prstGeom prst="rect">
            <a:avLst/>
          </a:prstGeom>
          <a:noFill/>
        </p:spPr>
        <p:txBody>
          <a:bodyPr wrap="none" rtlCol="0">
            <a:spAutoFit/>
          </a:bodyPr>
          <a:lstStyle/>
          <a:p>
            <a:r>
              <a:rPr kumimoji="1" lang="en-US" altLang="ja-JP" dirty="0">
                <a:solidFill>
                  <a:srgbClr val="C00000"/>
                </a:solidFill>
              </a:rPr>
              <a:t>②</a:t>
            </a:r>
          </a:p>
        </p:txBody>
      </p:sp>
      <p:sp>
        <p:nvSpPr>
          <p:cNvPr id="13" name="テキスト ボックス 12">
            <a:extLst>
              <a:ext uri="{FF2B5EF4-FFF2-40B4-BE49-F238E27FC236}">
                <a16:creationId xmlns:a16="http://schemas.microsoft.com/office/drawing/2014/main" id="{A92B0395-041D-1A31-A654-DA6099B3B668}"/>
              </a:ext>
            </a:extLst>
          </p:cNvPr>
          <p:cNvSpPr txBox="1"/>
          <p:nvPr/>
        </p:nvSpPr>
        <p:spPr>
          <a:xfrm>
            <a:off x="648269" y="2987845"/>
            <a:ext cx="415498" cy="369332"/>
          </a:xfrm>
          <a:prstGeom prst="rect">
            <a:avLst/>
          </a:prstGeom>
          <a:noFill/>
        </p:spPr>
        <p:txBody>
          <a:bodyPr wrap="none" rtlCol="0">
            <a:spAutoFit/>
          </a:bodyPr>
          <a:lstStyle/>
          <a:p>
            <a:r>
              <a:rPr lang="en-US" altLang="ja-JP" dirty="0">
                <a:solidFill>
                  <a:srgbClr val="C00000"/>
                </a:solidFill>
              </a:rPr>
              <a:t>③</a:t>
            </a:r>
            <a:endParaRPr kumimoji="1" lang="en-US" altLang="ja-JP" dirty="0">
              <a:solidFill>
                <a:srgbClr val="C00000"/>
              </a:solidFill>
            </a:endParaRPr>
          </a:p>
        </p:txBody>
      </p:sp>
      <p:sp>
        <p:nvSpPr>
          <p:cNvPr id="14" name="テキスト ボックス 13">
            <a:extLst>
              <a:ext uri="{FF2B5EF4-FFF2-40B4-BE49-F238E27FC236}">
                <a16:creationId xmlns:a16="http://schemas.microsoft.com/office/drawing/2014/main" id="{787E4468-3933-B001-9409-58BFE4F92A0B}"/>
              </a:ext>
            </a:extLst>
          </p:cNvPr>
          <p:cNvSpPr txBox="1"/>
          <p:nvPr/>
        </p:nvSpPr>
        <p:spPr>
          <a:xfrm>
            <a:off x="4002585" y="2987845"/>
            <a:ext cx="415498" cy="369332"/>
          </a:xfrm>
          <a:prstGeom prst="rect">
            <a:avLst/>
          </a:prstGeom>
          <a:noFill/>
        </p:spPr>
        <p:txBody>
          <a:bodyPr wrap="none" rtlCol="0">
            <a:spAutoFit/>
          </a:bodyPr>
          <a:lstStyle/>
          <a:p>
            <a:r>
              <a:rPr kumimoji="1" lang="en-US" altLang="ja-JP" dirty="0">
                <a:solidFill>
                  <a:srgbClr val="C00000"/>
                </a:solidFill>
              </a:rPr>
              <a:t>④</a:t>
            </a:r>
          </a:p>
        </p:txBody>
      </p:sp>
      <p:sp>
        <p:nvSpPr>
          <p:cNvPr id="19" name="テキスト ボックス 18">
            <a:extLst>
              <a:ext uri="{FF2B5EF4-FFF2-40B4-BE49-F238E27FC236}">
                <a16:creationId xmlns:a16="http://schemas.microsoft.com/office/drawing/2014/main" id="{FFF53941-8892-0A39-A858-D8199999A810}"/>
              </a:ext>
            </a:extLst>
          </p:cNvPr>
          <p:cNvSpPr txBox="1"/>
          <p:nvPr/>
        </p:nvSpPr>
        <p:spPr>
          <a:xfrm>
            <a:off x="220381" y="170075"/>
            <a:ext cx="846707" cy="369332"/>
          </a:xfrm>
          <a:prstGeom prst="rect">
            <a:avLst/>
          </a:prstGeom>
          <a:noFill/>
        </p:spPr>
        <p:txBody>
          <a:bodyPr wrap="none" rtlCol="0">
            <a:spAutoFit/>
          </a:bodyPr>
          <a:lstStyle/>
          <a:p>
            <a:r>
              <a:rPr kumimoji="1" lang="en-US" altLang="ja-JP" b="1" dirty="0"/>
              <a:t>Home</a:t>
            </a:r>
            <a:endParaRPr kumimoji="1" lang="ja-JP" altLang="en-US" b="1"/>
          </a:p>
        </p:txBody>
      </p:sp>
      <p:cxnSp>
        <p:nvCxnSpPr>
          <p:cNvPr id="20" name="直線コネクタ 19">
            <a:extLst>
              <a:ext uri="{FF2B5EF4-FFF2-40B4-BE49-F238E27FC236}">
                <a16:creationId xmlns:a16="http://schemas.microsoft.com/office/drawing/2014/main" id="{63FE1E22-A794-F070-D71F-CC3C1BA86E48}"/>
              </a:ext>
            </a:extLst>
          </p:cNvPr>
          <p:cNvCxnSpPr>
            <a:cxnSpLocks/>
          </p:cNvCxnSpPr>
          <p:nvPr/>
        </p:nvCxnSpPr>
        <p:spPr>
          <a:xfrm>
            <a:off x="0" y="602796"/>
            <a:ext cx="12192000" cy="0"/>
          </a:xfrm>
          <a:prstGeom prst="line">
            <a:avLst/>
          </a:prstGeom>
          <a:ln w="19050"/>
        </p:spPr>
        <p:style>
          <a:lnRef idx="1">
            <a:schemeClr val="accent6"/>
          </a:lnRef>
          <a:fillRef idx="0">
            <a:schemeClr val="accent6"/>
          </a:fillRef>
          <a:effectRef idx="0">
            <a:schemeClr val="accent6"/>
          </a:effectRef>
          <a:fontRef idx="minor">
            <a:schemeClr val="tx1"/>
          </a:fontRef>
        </p:style>
      </p:cxnSp>
      <p:sp>
        <p:nvSpPr>
          <p:cNvPr id="21" name="テキスト ボックス 20">
            <a:extLst>
              <a:ext uri="{FF2B5EF4-FFF2-40B4-BE49-F238E27FC236}">
                <a16:creationId xmlns:a16="http://schemas.microsoft.com/office/drawing/2014/main" id="{D9C9BA05-A6E9-57E5-1AA4-F29B7D95543F}"/>
              </a:ext>
            </a:extLst>
          </p:cNvPr>
          <p:cNvSpPr txBox="1"/>
          <p:nvPr/>
        </p:nvSpPr>
        <p:spPr>
          <a:xfrm>
            <a:off x="220381" y="5101550"/>
            <a:ext cx="9162771" cy="369332"/>
          </a:xfrm>
          <a:prstGeom prst="rect">
            <a:avLst/>
          </a:prstGeom>
          <a:noFill/>
        </p:spPr>
        <p:txBody>
          <a:bodyPr wrap="square" rtlCol="0">
            <a:spAutoFit/>
          </a:bodyPr>
          <a:lstStyle/>
          <a:p>
            <a:r>
              <a:rPr lang="ja-JP" altLang="en-US"/>
              <a:t>正しく</a:t>
            </a:r>
            <a:r>
              <a:rPr lang="en-US" altLang="ja-JP" dirty="0"/>
              <a:t>backend</a:t>
            </a:r>
            <a:r>
              <a:rPr lang="ja-JP" altLang="en-US"/>
              <a:t>と</a:t>
            </a:r>
            <a:r>
              <a:rPr lang="en-US" altLang="ja-JP" dirty="0"/>
              <a:t>frontend</a:t>
            </a:r>
            <a:r>
              <a:rPr lang="ja-JP" altLang="en-US"/>
              <a:t>を立ち上げられますと上の画面になります。</a:t>
            </a:r>
            <a:endParaRPr kumimoji="1" lang="ja-JP" altLang="en-US"/>
          </a:p>
        </p:txBody>
      </p:sp>
      <p:sp>
        <p:nvSpPr>
          <p:cNvPr id="22" name="テキスト ボックス 21">
            <a:extLst>
              <a:ext uri="{FF2B5EF4-FFF2-40B4-BE49-F238E27FC236}">
                <a16:creationId xmlns:a16="http://schemas.microsoft.com/office/drawing/2014/main" id="{1F17AC55-621E-2A09-E643-E746D39FDFD1}"/>
              </a:ext>
            </a:extLst>
          </p:cNvPr>
          <p:cNvSpPr txBox="1"/>
          <p:nvPr/>
        </p:nvSpPr>
        <p:spPr>
          <a:xfrm>
            <a:off x="520505" y="5534271"/>
            <a:ext cx="1800493" cy="1200329"/>
          </a:xfrm>
          <a:prstGeom prst="rect">
            <a:avLst/>
          </a:prstGeom>
          <a:noFill/>
        </p:spPr>
        <p:txBody>
          <a:bodyPr wrap="none" rtlCol="0">
            <a:spAutoFit/>
          </a:bodyPr>
          <a:lstStyle/>
          <a:p>
            <a:r>
              <a:rPr kumimoji="1" lang="en-US" altLang="ja-JP" dirty="0"/>
              <a:t>①</a:t>
            </a:r>
            <a:r>
              <a:rPr kumimoji="1" lang="ja-JP" altLang="en-US"/>
              <a:t>データベース</a:t>
            </a:r>
            <a:endParaRPr kumimoji="1" lang="en-US" altLang="ja-JP" dirty="0"/>
          </a:p>
          <a:p>
            <a:r>
              <a:rPr lang="en-US" altLang="ja-JP" dirty="0"/>
              <a:t>②</a:t>
            </a:r>
            <a:r>
              <a:rPr lang="ja-JP" altLang="en-US"/>
              <a:t>モデル選択</a:t>
            </a:r>
            <a:endParaRPr lang="en-US" altLang="ja-JP" dirty="0"/>
          </a:p>
          <a:p>
            <a:r>
              <a:rPr kumimoji="1" lang="en-US" altLang="ja-JP" dirty="0"/>
              <a:t>③</a:t>
            </a:r>
            <a:r>
              <a:rPr kumimoji="1" lang="ja-JP" altLang="en-US"/>
              <a:t>再学習</a:t>
            </a:r>
            <a:endParaRPr kumimoji="1" lang="en-US" altLang="ja-JP" dirty="0"/>
          </a:p>
          <a:p>
            <a:r>
              <a:rPr lang="en-US" altLang="ja-JP" dirty="0"/>
              <a:t>④Swagger</a:t>
            </a:r>
            <a:endParaRPr kumimoji="1" lang="ja-JP" altLang="en-US"/>
          </a:p>
        </p:txBody>
      </p:sp>
      <p:sp>
        <p:nvSpPr>
          <p:cNvPr id="23" name="テキスト ボックス 22">
            <a:extLst>
              <a:ext uri="{FF2B5EF4-FFF2-40B4-BE49-F238E27FC236}">
                <a16:creationId xmlns:a16="http://schemas.microsoft.com/office/drawing/2014/main" id="{C82D3CA3-061D-8EEE-F6B1-03CF674CCB1E}"/>
              </a:ext>
            </a:extLst>
          </p:cNvPr>
          <p:cNvSpPr txBox="1"/>
          <p:nvPr/>
        </p:nvSpPr>
        <p:spPr>
          <a:xfrm>
            <a:off x="2558287" y="5885872"/>
            <a:ext cx="9162771" cy="369332"/>
          </a:xfrm>
          <a:prstGeom prst="rect">
            <a:avLst/>
          </a:prstGeom>
          <a:noFill/>
        </p:spPr>
        <p:txBody>
          <a:bodyPr wrap="square" rtlCol="0">
            <a:spAutoFit/>
          </a:bodyPr>
          <a:lstStyle/>
          <a:p>
            <a:r>
              <a:rPr kumimoji="1" lang="ja-JP" altLang="en-US"/>
              <a:t>の４つの項目が出てきますので順番に説明します。</a:t>
            </a:r>
          </a:p>
        </p:txBody>
      </p:sp>
      <p:sp>
        <p:nvSpPr>
          <p:cNvPr id="24" name="正方形/長方形 23">
            <a:extLst>
              <a:ext uri="{FF2B5EF4-FFF2-40B4-BE49-F238E27FC236}">
                <a16:creationId xmlns:a16="http://schemas.microsoft.com/office/drawing/2014/main" id="{541BDDD4-1DBD-FC05-A36F-3626F4969E43}"/>
              </a:ext>
            </a:extLst>
          </p:cNvPr>
          <p:cNvSpPr/>
          <p:nvPr/>
        </p:nvSpPr>
        <p:spPr>
          <a:xfrm>
            <a:off x="4418083" y="1491175"/>
            <a:ext cx="3164403" cy="527801"/>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807AB7F8-B5B9-4BD3-4042-C368388D0B51}"/>
              </a:ext>
            </a:extLst>
          </p:cNvPr>
          <p:cNvSpPr/>
          <p:nvPr/>
        </p:nvSpPr>
        <p:spPr>
          <a:xfrm>
            <a:off x="5557471" y="963375"/>
            <a:ext cx="2503318" cy="369332"/>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B77EB597-7779-3BA6-DB1C-DDB48EFC172B}"/>
              </a:ext>
            </a:extLst>
          </p:cNvPr>
          <p:cNvSpPr txBox="1"/>
          <p:nvPr/>
        </p:nvSpPr>
        <p:spPr>
          <a:xfrm>
            <a:off x="8215532" y="826825"/>
            <a:ext cx="2031325" cy="646331"/>
          </a:xfrm>
          <a:prstGeom prst="rect">
            <a:avLst/>
          </a:prstGeom>
          <a:noFill/>
        </p:spPr>
        <p:txBody>
          <a:bodyPr wrap="none" rtlCol="0">
            <a:spAutoFit/>
          </a:bodyPr>
          <a:lstStyle/>
          <a:p>
            <a:r>
              <a:rPr kumimoji="1" lang="ja-JP" altLang="en-US"/>
              <a:t>日本語・英語変換</a:t>
            </a:r>
            <a:endParaRPr kumimoji="1" lang="en-US" altLang="ja-JP" dirty="0"/>
          </a:p>
          <a:p>
            <a:r>
              <a:rPr kumimoji="1" lang="ja-JP" altLang="en-US"/>
              <a:t>ナイトモード</a:t>
            </a:r>
          </a:p>
        </p:txBody>
      </p:sp>
      <p:sp>
        <p:nvSpPr>
          <p:cNvPr id="28" name="テキスト ボックス 27">
            <a:extLst>
              <a:ext uri="{FF2B5EF4-FFF2-40B4-BE49-F238E27FC236}">
                <a16:creationId xmlns:a16="http://schemas.microsoft.com/office/drawing/2014/main" id="{46235CEB-BDB8-97BF-F27B-F3F4DF92554B}"/>
              </a:ext>
            </a:extLst>
          </p:cNvPr>
          <p:cNvSpPr txBox="1"/>
          <p:nvPr/>
        </p:nvSpPr>
        <p:spPr>
          <a:xfrm>
            <a:off x="7772400" y="1570409"/>
            <a:ext cx="2260555" cy="369332"/>
          </a:xfrm>
          <a:prstGeom prst="rect">
            <a:avLst/>
          </a:prstGeom>
          <a:noFill/>
        </p:spPr>
        <p:txBody>
          <a:bodyPr wrap="none" rtlCol="0">
            <a:spAutoFit/>
          </a:bodyPr>
          <a:lstStyle/>
          <a:p>
            <a:r>
              <a:rPr kumimoji="1" lang="en-US" altLang="ja-JP" dirty="0"/>
              <a:t>Backend</a:t>
            </a:r>
            <a:r>
              <a:rPr kumimoji="1" lang="ja-JP" altLang="en-US"/>
              <a:t>の稼働状況</a:t>
            </a:r>
          </a:p>
        </p:txBody>
      </p:sp>
    </p:spTree>
    <p:extLst>
      <p:ext uri="{BB962C8B-B14F-4D97-AF65-F5344CB8AC3E}">
        <p14:creationId xmlns:p14="http://schemas.microsoft.com/office/powerpoint/2010/main" val="395081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225B164C-CC1F-873D-4471-01B3A01A96B9}"/>
              </a:ext>
            </a:extLst>
          </p:cNvPr>
          <p:cNvPicPr>
            <a:picLocks noChangeAspect="1"/>
          </p:cNvPicPr>
          <p:nvPr/>
        </p:nvPicPr>
        <p:blipFill>
          <a:blip r:embed="rId2"/>
          <a:stretch>
            <a:fillRect/>
          </a:stretch>
        </p:blipFill>
        <p:spPr>
          <a:xfrm>
            <a:off x="0" y="729575"/>
            <a:ext cx="7772400" cy="4371975"/>
          </a:xfrm>
          <a:prstGeom prst="rect">
            <a:avLst/>
          </a:prstGeom>
        </p:spPr>
      </p:pic>
      <p:sp>
        <p:nvSpPr>
          <p:cNvPr id="6" name="テキスト ボックス 5">
            <a:extLst>
              <a:ext uri="{FF2B5EF4-FFF2-40B4-BE49-F238E27FC236}">
                <a16:creationId xmlns:a16="http://schemas.microsoft.com/office/drawing/2014/main" id="{C72D6899-F266-699A-F960-BAF69EFFC11A}"/>
              </a:ext>
            </a:extLst>
          </p:cNvPr>
          <p:cNvSpPr txBox="1"/>
          <p:nvPr/>
        </p:nvSpPr>
        <p:spPr>
          <a:xfrm>
            <a:off x="220381" y="170075"/>
            <a:ext cx="1800493" cy="369332"/>
          </a:xfrm>
          <a:prstGeom prst="rect">
            <a:avLst/>
          </a:prstGeom>
          <a:noFill/>
        </p:spPr>
        <p:txBody>
          <a:bodyPr wrap="none" rtlCol="0">
            <a:spAutoFit/>
          </a:bodyPr>
          <a:lstStyle/>
          <a:p>
            <a:r>
              <a:rPr kumimoji="1" lang="en-US" altLang="ja-JP" b="1" dirty="0"/>
              <a:t>①</a:t>
            </a:r>
            <a:r>
              <a:rPr kumimoji="1" lang="ja-JP" altLang="en-US" b="1"/>
              <a:t>データベース</a:t>
            </a:r>
          </a:p>
        </p:txBody>
      </p:sp>
      <p:cxnSp>
        <p:nvCxnSpPr>
          <p:cNvPr id="9" name="直線コネクタ 8">
            <a:extLst>
              <a:ext uri="{FF2B5EF4-FFF2-40B4-BE49-F238E27FC236}">
                <a16:creationId xmlns:a16="http://schemas.microsoft.com/office/drawing/2014/main" id="{888020C8-AE0A-09FB-E9BB-8324C734CFF4}"/>
              </a:ext>
            </a:extLst>
          </p:cNvPr>
          <p:cNvCxnSpPr>
            <a:cxnSpLocks/>
          </p:cNvCxnSpPr>
          <p:nvPr/>
        </p:nvCxnSpPr>
        <p:spPr>
          <a:xfrm>
            <a:off x="0" y="602796"/>
            <a:ext cx="12192000" cy="0"/>
          </a:xfrm>
          <a:prstGeom prst="line">
            <a:avLst/>
          </a:prstGeom>
          <a:ln w="19050"/>
        </p:spPr>
        <p:style>
          <a:lnRef idx="1">
            <a:schemeClr val="accent6"/>
          </a:lnRef>
          <a:fillRef idx="0">
            <a:schemeClr val="accent6"/>
          </a:fillRef>
          <a:effectRef idx="0">
            <a:schemeClr val="accent6"/>
          </a:effectRef>
          <a:fontRef idx="minor">
            <a:schemeClr val="tx1"/>
          </a:fontRef>
        </p:style>
      </p:cxnSp>
      <p:sp>
        <p:nvSpPr>
          <p:cNvPr id="12" name="テキスト ボックス 11">
            <a:extLst>
              <a:ext uri="{FF2B5EF4-FFF2-40B4-BE49-F238E27FC236}">
                <a16:creationId xmlns:a16="http://schemas.microsoft.com/office/drawing/2014/main" id="{EA9AFB49-D3DD-B625-253A-4559811CDC40}"/>
              </a:ext>
            </a:extLst>
          </p:cNvPr>
          <p:cNvSpPr txBox="1"/>
          <p:nvPr/>
        </p:nvSpPr>
        <p:spPr>
          <a:xfrm>
            <a:off x="220381" y="5228328"/>
            <a:ext cx="9162771" cy="369332"/>
          </a:xfrm>
          <a:prstGeom prst="rect">
            <a:avLst/>
          </a:prstGeom>
          <a:noFill/>
        </p:spPr>
        <p:txBody>
          <a:bodyPr wrap="square" rtlCol="0">
            <a:spAutoFit/>
          </a:bodyPr>
          <a:lstStyle/>
          <a:p>
            <a:r>
              <a:rPr kumimoji="1" lang="ja-JP" altLang="en-US"/>
              <a:t>まずプロジェクトの作成を行います。</a:t>
            </a:r>
          </a:p>
        </p:txBody>
      </p:sp>
      <p:sp>
        <p:nvSpPr>
          <p:cNvPr id="15" name="正方形/長方形 14">
            <a:extLst>
              <a:ext uri="{FF2B5EF4-FFF2-40B4-BE49-F238E27FC236}">
                <a16:creationId xmlns:a16="http://schemas.microsoft.com/office/drawing/2014/main" id="{8BE8A6FB-648D-1B8E-8B2A-808BF3E8BBCE}"/>
              </a:ext>
            </a:extLst>
          </p:cNvPr>
          <p:cNvSpPr/>
          <p:nvPr/>
        </p:nvSpPr>
        <p:spPr>
          <a:xfrm>
            <a:off x="6096000" y="3032592"/>
            <a:ext cx="1140823" cy="527801"/>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C99B5BD5-E61B-ACA2-CE89-76CA34BE7FFC}"/>
              </a:ext>
            </a:extLst>
          </p:cNvPr>
          <p:cNvSpPr txBox="1"/>
          <p:nvPr/>
        </p:nvSpPr>
        <p:spPr>
          <a:xfrm>
            <a:off x="7772400" y="2834827"/>
            <a:ext cx="4133905" cy="1200329"/>
          </a:xfrm>
          <a:prstGeom prst="rect">
            <a:avLst/>
          </a:prstGeom>
          <a:noFill/>
        </p:spPr>
        <p:txBody>
          <a:bodyPr wrap="square" rtlCol="0">
            <a:spAutoFit/>
          </a:bodyPr>
          <a:lstStyle/>
          <a:p>
            <a:r>
              <a:rPr kumimoji="1" lang="ja-JP" altLang="en-US"/>
              <a:t>保存：</a:t>
            </a:r>
            <a:endParaRPr kumimoji="1" lang="en-US" altLang="ja-JP" dirty="0"/>
          </a:p>
          <a:p>
            <a:r>
              <a:rPr lang="ja-JP" altLang="en-US"/>
              <a:t>プロジェクト全体を</a:t>
            </a:r>
            <a:r>
              <a:rPr kumimoji="1" lang="en-US" altLang="ja-JP" dirty="0"/>
              <a:t>Zip</a:t>
            </a:r>
            <a:r>
              <a:rPr kumimoji="1" lang="ja-JP" altLang="en-US"/>
              <a:t>ファイルとして保存し</a:t>
            </a:r>
            <a:r>
              <a:rPr lang="en-US" altLang="ja-JP" dirty="0"/>
              <a:t>③</a:t>
            </a:r>
            <a:r>
              <a:rPr lang="ja-JP" altLang="en-US"/>
              <a:t>再学習にアップロードすることができます（作成中）</a:t>
            </a:r>
            <a:endParaRPr kumimoji="1" lang="en-US" altLang="ja-JP" dirty="0"/>
          </a:p>
        </p:txBody>
      </p:sp>
    </p:spTree>
    <p:extLst>
      <p:ext uri="{BB962C8B-B14F-4D97-AF65-F5344CB8AC3E}">
        <p14:creationId xmlns:p14="http://schemas.microsoft.com/office/powerpoint/2010/main" val="356104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75981AC2-4B31-9385-C4D3-807EF9AF06DC}"/>
              </a:ext>
            </a:extLst>
          </p:cNvPr>
          <p:cNvPicPr>
            <a:picLocks noChangeAspect="1"/>
          </p:cNvPicPr>
          <p:nvPr/>
        </p:nvPicPr>
        <p:blipFill>
          <a:blip r:embed="rId2"/>
          <a:stretch>
            <a:fillRect/>
          </a:stretch>
        </p:blipFill>
        <p:spPr>
          <a:xfrm>
            <a:off x="0" y="666186"/>
            <a:ext cx="7772400" cy="4371975"/>
          </a:xfrm>
          <a:prstGeom prst="rect">
            <a:avLst/>
          </a:prstGeom>
        </p:spPr>
      </p:pic>
      <p:sp>
        <p:nvSpPr>
          <p:cNvPr id="5" name="テキスト ボックス 4">
            <a:extLst>
              <a:ext uri="{FF2B5EF4-FFF2-40B4-BE49-F238E27FC236}">
                <a16:creationId xmlns:a16="http://schemas.microsoft.com/office/drawing/2014/main" id="{F858487D-47F7-73AC-63E1-45DA8BE06E32}"/>
              </a:ext>
            </a:extLst>
          </p:cNvPr>
          <p:cNvSpPr txBox="1"/>
          <p:nvPr/>
        </p:nvSpPr>
        <p:spPr>
          <a:xfrm>
            <a:off x="220381" y="170075"/>
            <a:ext cx="3416320" cy="369332"/>
          </a:xfrm>
          <a:prstGeom prst="rect">
            <a:avLst/>
          </a:prstGeom>
          <a:noFill/>
        </p:spPr>
        <p:txBody>
          <a:bodyPr wrap="none" rtlCol="0">
            <a:spAutoFit/>
          </a:bodyPr>
          <a:lstStyle/>
          <a:p>
            <a:r>
              <a:rPr kumimoji="1" lang="en-US" altLang="ja-JP" b="1" dirty="0"/>
              <a:t>①</a:t>
            </a:r>
            <a:r>
              <a:rPr kumimoji="1" lang="ja-JP" altLang="en-US" b="1"/>
              <a:t>データベース：</a:t>
            </a:r>
            <a:r>
              <a:rPr lang="ja-JP" altLang="en-US" b="1"/>
              <a:t>プロジェクト</a:t>
            </a:r>
            <a:endParaRPr kumimoji="1" lang="ja-JP" altLang="en-US" b="1"/>
          </a:p>
        </p:txBody>
      </p:sp>
      <p:cxnSp>
        <p:nvCxnSpPr>
          <p:cNvPr id="6" name="直線コネクタ 5">
            <a:extLst>
              <a:ext uri="{FF2B5EF4-FFF2-40B4-BE49-F238E27FC236}">
                <a16:creationId xmlns:a16="http://schemas.microsoft.com/office/drawing/2014/main" id="{88AE608B-846F-4761-C801-967E58322654}"/>
              </a:ext>
            </a:extLst>
          </p:cNvPr>
          <p:cNvCxnSpPr>
            <a:cxnSpLocks/>
          </p:cNvCxnSpPr>
          <p:nvPr/>
        </p:nvCxnSpPr>
        <p:spPr>
          <a:xfrm>
            <a:off x="0" y="602796"/>
            <a:ext cx="12192000" cy="0"/>
          </a:xfrm>
          <a:prstGeom prst="line">
            <a:avLst/>
          </a:prstGeom>
          <a:ln w="19050"/>
        </p:spPr>
        <p:style>
          <a:lnRef idx="1">
            <a:schemeClr val="accent6"/>
          </a:lnRef>
          <a:fillRef idx="0">
            <a:schemeClr val="accent6"/>
          </a:fillRef>
          <a:effectRef idx="0">
            <a:schemeClr val="accent6"/>
          </a:effectRef>
          <a:fontRef idx="minor">
            <a:schemeClr val="tx1"/>
          </a:fontRef>
        </p:style>
      </p:cxnSp>
      <p:sp>
        <p:nvSpPr>
          <p:cNvPr id="7" name="テキスト ボックス 6">
            <a:extLst>
              <a:ext uri="{FF2B5EF4-FFF2-40B4-BE49-F238E27FC236}">
                <a16:creationId xmlns:a16="http://schemas.microsoft.com/office/drawing/2014/main" id="{346C4D50-615A-BC35-4E5B-69991DA1579F}"/>
              </a:ext>
            </a:extLst>
          </p:cNvPr>
          <p:cNvSpPr txBox="1"/>
          <p:nvPr/>
        </p:nvSpPr>
        <p:spPr>
          <a:xfrm>
            <a:off x="220381" y="5228328"/>
            <a:ext cx="9162771" cy="1200329"/>
          </a:xfrm>
          <a:prstGeom prst="rect">
            <a:avLst/>
          </a:prstGeom>
          <a:noFill/>
        </p:spPr>
        <p:txBody>
          <a:bodyPr wrap="square" rtlCol="0">
            <a:spAutoFit/>
          </a:bodyPr>
          <a:lstStyle/>
          <a:p>
            <a:r>
              <a:rPr kumimoji="1" lang="ja-JP" altLang="en-US"/>
              <a:t>開くとリアルタイムエンジンとアップロードの２種類の画像取得が選択できます。</a:t>
            </a:r>
            <a:endParaRPr kumimoji="1" lang="en-US" altLang="ja-JP" dirty="0"/>
          </a:p>
          <a:p>
            <a:r>
              <a:rPr kumimoji="1" lang="ja-JP" altLang="en-US"/>
              <a:t>・リアルタイムエンジン：サンプルのライブ観察</a:t>
            </a:r>
            <a:endParaRPr lang="en-US" altLang="ja-JP" dirty="0"/>
          </a:p>
          <a:p>
            <a:r>
              <a:rPr kumimoji="1" lang="ja-JP" altLang="en-US"/>
              <a:t>・アップロード：サンプル撮影画像のオンデマンド観察</a:t>
            </a:r>
            <a:endParaRPr kumimoji="1" lang="en-US" altLang="ja-JP" dirty="0"/>
          </a:p>
          <a:p>
            <a:r>
              <a:rPr lang="ja-JP" altLang="en-US"/>
              <a:t>用途によって使い分けます。</a:t>
            </a:r>
            <a:endParaRPr kumimoji="1" lang="en-US" altLang="ja-JP" dirty="0"/>
          </a:p>
        </p:txBody>
      </p:sp>
    </p:spTree>
    <p:extLst>
      <p:ext uri="{BB962C8B-B14F-4D97-AF65-F5344CB8AC3E}">
        <p14:creationId xmlns:p14="http://schemas.microsoft.com/office/powerpoint/2010/main" val="3230955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3C4B2F4B-9FB3-A37B-C2E5-049972C9D42A}"/>
              </a:ext>
            </a:extLst>
          </p:cNvPr>
          <p:cNvPicPr>
            <a:picLocks noChangeAspect="1"/>
          </p:cNvPicPr>
          <p:nvPr/>
        </p:nvPicPr>
        <p:blipFill>
          <a:blip r:embed="rId2"/>
          <a:stretch>
            <a:fillRect/>
          </a:stretch>
        </p:blipFill>
        <p:spPr>
          <a:xfrm>
            <a:off x="0" y="666186"/>
            <a:ext cx="7772400" cy="4371975"/>
          </a:xfrm>
          <a:prstGeom prst="rect">
            <a:avLst/>
          </a:prstGeom>
        </p:spPr>
      </p:pic>
      <p:pic>
        <p:nvPicPr>
          <p:cNvPr id="11" name="図 10">
            <a:extLst>
              <a:ext uri="{FF2B5EF4-FFF2-40B4-BE49-F238E27FC236}">
                <a16:creationId xmlns:a16="http://schemas.microsoft.com/office/drawing/2014/main" id="{C7A15F9F-7028-37F8-84B9-F6016C4E41B4}"/>
              </a:ext>
            </a:extLst>
          </p:cNvPr>
          <p:cNvPicPr>
            <a:picLocks noChangeAspect="1"/>
          </p:cNvPicPr>
          <p:nvPr/>
        </p:nvPicPr>
        <p:blipFill>
          <a:blip r:embed="rId3"/>
          <a:stretch>
            <a:fillRect/>
          </a:stretch>
        </p:blipFill>
        <p:spPr>
          <a:xfrm>
            <a:off x="8308071" y="2155058"/>
            <a:ext cx="3883929" cy="2192967"/>
          </a:xfrm>
          <a:prstGeom prst="rect">
            <a:avLst/>
          </a:prstGeom>
        </p:spPr>
      </p:pic>
      <p:sp>
        <p:nvSpPr>
          <p:cNvPr id="12" name="テキスト ボックス 11">
            <a:extLst>
              <a:ext uri="{FF2B5EF4-FFF2-40B4-BE49-F238E27FC236}">
                <a16:creationId xmlns:a16="http://schemas.microsoft.com/office/drawing/2014/main" id="{5DC0D58C-4695-962E-0A1B-F6B8859DE7F8}"/>
              </a:ext>
            </a:extLst>
          </p:cNvPr>
          <p:cNvSpPr txBox="1"/>
          <p:nvPr/>
        </p:nvSpPr>
        <p:spPr>
          <a:xfrm>
            <a:off x="220381" y="170075"/>
            <a:ext cx="4339650" cy="369332"/>
          </a:xfrm>
          <a:prstGeom prst="rect">
            <a:avLst/>
          </a:prstGeom>
          <a:noFill/>
        </p:spPr>
        <p:txBody>
          <a:bodyPr wrap="none" rtlCol="0">
            <a:spAutoFit/>
          </a:bodyPr>
          <a:lstStyle/>
          <a:p>
            <a:r>
              <a:rPr kumimoji="1" lang="en-US" altLang="ja-JP" b="1" dirty="0"/>
              <a:t>①</a:t>
            </a:r>
            <a:r>
              <a:rPr kumimoji="1" lang="ja-JP" altLang="en-US" b="1"/>
              <a:t>データベース：リアルタイムエンジン</a:t>
            </a:r>
          </a:p>
        </p:txBody>
      </p:sp>
      <p:cxnSp>
        <p:nvCxnSpPr>
          <p:cNvPr id="13" name="直線コネクタ 12">
            <a:extLst>
              <a:ext uri="{FF2B5EF4-FFF2-40B4-BE49-F238E27FC236}">
                <a16:creationId xmlns:a16="http://schemas.microsoft.com/office/drawing/2014/main" id="{EE4369DD-502B-2403-72CF-3D23AA26748D}"/>
              </a:ext>
            </a:extLst>
          </p:cNvPr>
          <p:cNvCxnSpPr>
            <a:cxnSpLocks/>
          </p:cNvCxnSpPr>
          <p:nvPr/>
        </p:nvCxnSpPr>
        <p:spPr>
          <a:xfrm>
            <a:off x="0" y="602796"/>
            <a:ext cx="12192000" cy="0"/>
          </a:xfrm>
          <a:prstGeom prst="line">
            <a:avLst/>
          </a:prstGeom>
          <a:ln w="19050"/>
        </p:spPr>
        <p:style>
          <a:lnRef idx="1">
            <a:schemeClr val="accent6"/>
          </a:lnRef>
          <a:fillRef idx="0">
            <a:schemeClr val="accent6"/>
          </a:fillRef>
          <a:effectRef idx="0">
            <a:schemeClr val="accent6"/>
          </a:effectRef>
          <a:fontRef idx="minor">
            <a:schemeClr val="tx1"/>
          </a:fontRef>
        </p:style>
      </p:cxnSp>
      <p:sp>
        <p:nvSpPr>
          <p:cNvPr id="15" name="テキスト ボックス 14">
            <a:extLst>
              <a:ext uri="{FF2B5EF4-FFF2-40B4-BE49-F238E27FC236}">
                <a16:creationId xmlns:a16="http://schemas.microsoft.com/office/drawing/2014/main" id="{85188D24-FB8C-0AE9-CB7D-33E9E978A529}"/>
              </a:ext>
            </a:extLst>
          </p:cNvPr>
          <p:cNvSpPr txBox="1"/>
          <p:nvPr/>
        </p:nvSpPr>
        <p:spPr>
          <a:xfrm>
            <a:off x="517907" y="5101550"/>
            <a:ext cx="10091224" cy="1200329"/>
          </a:xfrm>
          <a:prstGeom prst="rect">
            <a:avLst/>
          </a:prstGeom>
          <a:noFill/>
        </p:spPr>
        <p:txBody>
          <a:bodyPr wrap="none" rtlCol="0">
            <a:spAutoFit/>
          </a:bodyPr>
          <a:lstStyle/>
          <a:p>
            <a:r>
              <a:rPr kumimoji="1" lang="en-US" altLang="ja-JP" dirty="0"/>
              <a:t>①</a:t>
            </a:r>
            <a:r>
              <a:rPr kumimoji="1" lang="ja-JP" altLang="en-US"/>
              <a:t>まず</a:t>
            </a:r>
            <a:r>
              <a:rPr kumimoji="1" lang="en-US" altLang="ja-JP" dirty="0" err="1"/>
              <a:t>Cellsens</a:t>
            </a:r>
            <a:r>
              <a:rPr lang="ja-JP" altLang="en-US"/>
              <a:t>から画像が</a:t>
            </a:r>
            <a:r>
              <a:rPr kumimoji="1" lang="ja-JP" altLang="en-US"/>
              <a:t>転送されるフォルダのパスを入力します。</a:t>
            </a:r>
            <a:endParaRPr kumimoji="1" lang="en-US" altLang="ja-JP" dirty="0"/>
          </a:p>
          <a:p>
            <a:r>
              <a:rPr lang="en-US" altLang="ja-JP" dirty="0"/>
              <a:t>②</a:t>
            </a:r>
            <a:r>
              <a:rPr lang="ja-JP" altLang="en-US"/>
              <a:t>パワーシェル</a:t>
            </a:r>
            <a:r>
              <a:rPr lang="en-US" altLang="ja-JP" dirty="0"/>
              <a:t>(Windows),</a:t>
            </a:r>
            <a:r>
              <a:rPr lang="ja-JP" altLang="en-US"/>
              <a:t>ターミナル（</a:t>
            </a:r>
            <a:r>
              <a:rPr lang="en-US" altLang="ja-JP" dirty="0"/>
              <a:t>Mac)</a:t>
            </a:r>
            <a:r>
              <a:rPr lang="ja-JP" altLang="en-US"/>
              <a:t>用の起動ファイルをダウンロードします。</a:t>
            </a:r>
            <a:endParaRPr lang="en-US" altLang="ja-JP" dirty="0"/>
          </a:p>
          <a:p>
            <a:r>
              <a:rPr kumimoji="1" lang="en-US" altLang="ja-JP" dirty="0"/>
              <a:t>③</a:t>
            </a:r>
            <a:r>
              <a:rPr kumimoji="1" lang="ja-JP" altLang="en-US"/>
              <a:t>起動ファイルを実行します。</a:t>
            </a:r>
            <a:endParaRPr kumimoji="1" lang="en-US" altLang="ja-JP" dirty="0"/>
          </a:p>
          <a:p>
            <a:r>
              <a:rPr kumimoji="1" lang="ja-JP" altLang="en-US"/>
              <a:t>（詳しくは内包されている</a:t>
            </a:r>
            <a:r>
              <a:rPr kumimoji="1" lang="en-US" altLang="ja-JP" dirty="0" err="1"/>
              <a:t>AbyssEye_</a:t>
            </a:r>
            <a:r>
              <a:rPr lang="en-US" altLang="ja-JP" dirty="0" err="1"/>
              <a:t>manual.txt</a:t>
            </a:r>
            <a:r>
              <a:rPr lang="ja-JP" altLang="en-US"/>
              <a:t>の</a:t>
            </a:r>
            <a:r>
              <a:rPr lang="en-US" altLang="ja-JP" dirty="0"/>
              <a:t> [6. </a:t>
            </a:r>
            <a:r>
              <a:rPr lang="ja-JP" altLang="en-US"/>
              <a:t>リアルタイムエンジンの使い方</a:t>
            </a:r>
            <a:r>
              <a:rPr lang="en-US" altLang="ja-JP" dirty="0"/>
              <a:t>]</a:t>
            </a:r>
            <a:r>
              <a:rPr lang="ja-JP" altLang="en-US"/>
              <a:t>を参照）</a:t>
            </a:r>
            <a:endParaRPr kumimoji="1" lang="ja-JP" altLang="en-US"/>
          </a:p>
        </p:txBody>
      </p:sp>
      <p:sp>
        <p:nvSpPr>
          <p:cNvPr id="16" name="テキスト ボックス 15">
            <a:extLst>
              <a:ext uri="{FF2B5EF4-FFF2-40B4-BE49-F238E27FC236}">
                <a16:creationId xmlns:a16="http://schemas.microsoft.com/office/drawing/2014/main" id="{4D5E383E-F580-2C38-598B-47DFFBA6D798}"/>
              </a:ext>
            </a:extLst>
          </p:cNvPr>
          <p:cNvSpPr txBox="1"/>
          <p:nvPr/>
        </p:nvSpPr>
        <p:spPr>
          <a:xfrm>
            <a:off x="8356565" y="4443090"/>
            <a:ext cx="3416320" cy="646331"/>
          </a:xfrm>
          <a:prstGeom prst="rect">
            <a:avLst/>
          </a:prstGeom>
          <a:noFill/>
        </p:spPr>
        <p:txBody>
          <a:bodyPr wrap="none" rtlCol="0">
            <a:spAutoFit/>
          </a:bodyPr>
          <a:lstStyle/>
          <a:p>
            <a:r>
              <a:rPr lang="ja-JP" altLang="en-US"/>
              <a:t>画像が転送されるフォルダ内で</a:t>
            </a:r>
            <a:endParaRPr lang="en-US" altLang="ja-JP" dirty="0"/>
          </a:p>
          <a:p>
            <a:r>
              <a:rPr lang="ja-JP" altLang="en-US"/>
              <a:t>起動ファイルを実行</a:t>
            </a:r>
            <a:endParaRPr lang="en-US" altLang="ja-JP" dirty="0"/>
          </a:p>
        </p:txBody>
      </p:sp>
      <p:sp>
        <p:nvSpPr>
          <p:cNvPr id="2" name="テキスト ボックス 1">
            <a:extLst>
              <a:ext uri="{FF2B5EF4-FFF2-40B4-BE49-F238E27FC236}">
                <a16:creationId xmlns:a16="http://schemas.microsoft.com/office/drawing/2014/main" id="{D804A804-8DFF-2770-7E6B-6F892087C949}"/>
              </a:ext>
            </a:extLst>
          </p:cNvPr>
          <p:cNvSpPr txBox="1"/>
          <p:nvPr/>
        </p:nvSpPr>
        <p:spPr>
          <a:xfrm>
            <a:off x="220381" y="2053653"/>
            <a:ext cx="415498" cy="369332"/>
          </a:xfrm>
          <a:prstGeom prst="rect">
            <a:avLst/>
          </a:prstGeom>
          <a:noFill/>
        </p:spPr>
        <p:txBody>
          <a:bodyPr wrap="none" rtlCol="0">
            <a:spAutoFit/>
          </a:bodyPr>
          <a:lstStyle/>
          <a:p>
            <a:r>
              <a:rPr kumimoji="1" lang="en-US" altLang="ja-JP" dirty="0"/>
              <a:t>①</a:t>
            </a:r>
            <a:endParaRPr kumimoji="1" lang="ja-JP" altLang="en-US"/>
          </a:p>
        </p:txBody>
      </p:sp>
      <p:sp>
        <p:nvSpPr>
          <p:cNvPr id="3" name="テキスト ボックス 2">
            <a:extLst>
              <a:ext uri="{FF2B5EF4-FFF2-40B4-BE49-F238E27FC236}">
                <a16:creationId xmlns:a16="http://schemas.microsoft.com/office/drawing/2014/main" id="{182FFFF1-DEA0-799E-CEDA-6D6BF406B595}"/>
              </a:ext>
            </a:extLst>
          </p:cNvPr>
          <p:cNvSpPr txBox="1"/>
          <p:nvPr/>
        </p:nvSpPr>
        <p:spPr>
          <a:xfrm>
            <a:off x="8308071" y="1824382"/>
            <a:ext cx="415498" cy="369332"/>
          </a:xfrm>
          <a:prstGeom prst="rect">
            <a:avLst/>
          </a:prstGeom>
          <a:noFill/>
        </p:spPr>
        <p:txBody>
          <a:bodyPr wrap="none" rtlCol="0">
            <a:spAutoFit/>
          </a:bodyPr>
          <a:lstStyle/>
          <a:p>
            <a:r>
              <a:rPr kumimoji="1" lang="en-US" altLang="ja-JP" dirty="0"/>
              <a:t>③</a:t>
            </a:r>
            <a:endParaRPr kumimoji="1" lang="ja-JP" altLang="en-US"/>
          </a:p>
        </p:txBody>
      </p:sp>
      <p:sp>
        <p:nvSpPr>
          <p:cNvPr id="4" name="テキスト ボックス 3">
            <a:extLst>
              <a:ext uri="{FF2B5EF4-FFF2-40B4-BE49-F238E27FC236}">
                <a16:creationId xmlns:a16="http://schemas.microsoft.com/office/drawing/2014/main" id="{13C65FE3-9B76-4559-11C3-0848EC30A168}"/>
              </a:ext>
            </a:extLst>
          </p:cNvPr>
          <p:cNvSpPr txBox="1"/>
          <p:nvPr/>
        </p:nvSpPr>
        <p:spPr>
          <a:xfrm>
            <a:off x="162990" y="2587475"/>
            <a:ext cx="415498" cy="369332"/>
          </a:xfrm>
          <a:prstGeom prst="rect">
            <a:avLst/>
          </a:prstGeom>
          <a:noFill/>
        </p:spPr>
        <p:txBody>
          <a:bodyPr wrap="none" rtlCol="0">
            <a:spAutoFit/>
          </a:bodyPr>
          <a:lstStyle/>
          <a:p>
            <a:r>
              <a:rPr lang="en-US" altLang="ja-JP" dirty="0"/>
              <a:t>②</a:t>
            </a:r>
            <a:endParaRPr kumimoji="1" lang="ja-JP" altLang="en-US"/>
          </a:p>
        </p:txBody>
      </p:sp>
    </p:spTree>
    <p:extLst>
      <p:ext uri="{BB962C8B-B14F-4D97-AF65-F5344CB8AC3E}">
        <p14:creationId xmlns:p14="http://schemas.microsoft.com/office/powerpoint/2010/main" val="28274103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F8C187DB-57A3-9F00-C25D-D1F90DC01833}"/>
              </a:ext>
            </a:extLst>
          </p:cNvPr>
          <p:cNvPicPr>
            <a:picLocks noChangeAspect="1"/>
          </p:cNvPicPr>
          <p:nvPr/>
        </p:nvPicPr>
        <p:blipFill>
          <a:blip r:embed="rId2"/>
          <a:stretch>
            <a:fillRect/>
          </a:stretch>
        </p:blipFill>
        <p:spPr>
          <a:xfrm>
            <a:off x="0" y="666186"/>
            <a:ext cx="7772400" cy="4371975"/>
          </a:xfrm>
          <a:prstGeom prst="rect">
            <a:avLst/>
          </a:prstGeom>
        </p:spPr>
      </p:pic>
      <p:pic>
        <p:nvPicPr>
          <p:cNvPr id="11" name="図 10">
            <a:extLst>
              <a:ext uri="{FF2B5EF4-FFF2-40B4-BE49-F238E27FC236}">
                <a16:creationId xmlns:a16="http://schemas.microsoft.com/office/drawing/2014/main" id="{905D0C06-F26F-95FD-FBC2-7C9789AFEDE4}"/>
              </a:ext>
            </a:extLst>
          </p:cNvPr>
          <p:cNvPicPr>
            <a:picLocks noChangeAspect="1"/>
          </p:cNvPicPr>
          <p:nvPr/>
        </p:nvPicPr>
        <p:blipFill>
          <a:blip r:embed="rId3"/>
          <a:srcRect l="68670" t="57395" r="1506" b="9530"/>
          <a:stretch>
            <a:fillRect/>
          </a:stretch>
        </p:blipFill>
        <p:spPr>
          <a:xfrm>
            <a:off x="7969000" y="3185159"/>
            <a:ext cx="2242562" cy="1399029"/>
          </a:xfrm>
          <a:prstGeom prst="rect">
            <a:avLst/>
          </a:prstGeom>
        </p:spPr>
      </p:pic>
      <p:pic>
        <p:nvPicPr>
          <p:cNvPr id="15" name="図 14">
            <a:extLst>
              <a:ext uri="{FF2B5EF4-FFF2-40B4-BE49-F238E27FC236}">
                <a16:creationId xmlns:a16="http://schemas.microsoft.com/office/drawing/2014/main" id="{BB282060-0C2F-AD59-747E-0ADC9C9E3C9F}"/>
              </a:ext>
            </a:extLst>
          </p:cNvPr>
          <p:cNvPicPr>
            <a:picLocks noChangeAspect="1"/>
          </p:cNvPicPr>
          <p:nvPr/>
        </p:nvPicPr>
        <p:blipFill>
          <a:blip r:embed="rId4"/>
          <a:srcRect l="54583" t="55935"/>
          <a:stretch>
            <a:fillRect/>
          </a:stretch>
        </p:blipFill>
        <p:spPr>
          <a:xfrm>
            <a:off x="7698302" y="5278398"/>
            <a:ext cx="2513260" cy="1371600"/>
          </a:xfrm>
          <a:prstGeom prst="rect">
            <a:avLst/>
          </a:prstGeom>
        </p:spPr>
      </p:pic>
      <p:cxnSp>
        <p:nvCxnSpPr>
          <p:cNvPr id="23" name="直線コネクタ 22">
            <a:extLst>
              <a:ext uri="{FF2B5EF4-FFF2-40B4-BE49-F238E27FC236}">
                <a16:creationId xmlns:a16="http://schemas.microsoft.com/office/drawing/2014/main" id="{F32868C9-062E-EC30-76FC-DDBFFDF5BF5B}"/>
              </a:ext>
            </a:extLst>
          </p:cNvPr>
          <p:cNvCxnSpPr>
            <a:cxnSpLocks/>
          </p:cNvCxnSpPr>
          <p:nvPr/>
        </p:nvCxnSpPr>
        <p:spPr>
          <a:xfrm>
            <a:off x="0" y="602796"/>
            <a:ext cx="12192000" cy="0"/>
          </a:xfrm>
          <a:prstGeom prst="line">
            <a:avLst/>
          </a:prstGeom>
          <a:ln w="19050"/>
        </p:spPr>
        <p:style>
          <a:lnRef idx="1">
            <a:schemeClr val="accent6"/>
          </a:lnRef>
          <a:fillRef idx="0">
            <a:schemeClr val="accent6"/>
          </a:fillRef>
          <a:effectRef idx="0">
            <a:schemeClr val="accent6"/>
          </a:effectRef>
          <a:fontRef idx="minor">
            <a:schemeClr val="tx1"/>
          </a:fontRef>
        </p:style>
      </p:cxnSp>
      <p:pic>
        <p:nvPicPr>
          <p:cNvPr id="25" name="図 24">
            <a:extLst>
              <a:ext uri="{FF2B5EF4-FFF2-40B4-BE49-F238E27FC236}">
                <a16:creationId xmlns:a16="http://schemas.microsoft.com/office/drawing/2014/main" id="{658A1611-B165-88DA-720C-5DCD0A0DA0D0}"/>
              </a:ext>
            </a:extLst>
          </p:cNvPr>
          <p:cNvPicPr>
            <a:picLocks noChangeAspect="1"/>
          </p:cNvPicPr>
          <p:nvPr/>
        </p:nvPicPr>
        <p:blipFill>
          <a:blip r:embed="rId5"/>
          <a:stretch>
            <a:fillRect/>
          </a:stretch>
        </p:blipFill>
        <p:spPr>
          <a:xfrm>
            <a:off x="7969000" y="1077176"/>
            <a:ext cx="1876425" cy="1774997"/>
          </a:xfrm>
          <a:prstGeom prst="rect">
            <a:avLst/>
          </a:prstGeom>
        </p:spPr>
      </p:pic>
      <p:sp>
        <p:nvSpPr>
          <p:cNvPr id="26" name="テキスト ボックス 25">
            <a:extLst>
              <a:ext uri="{FF2B5EF4-FFF2-40B4-BE49-F238E27FC236}">
                <a16:creationId xmlns:a16="http://schemas.microsoft.com/office/drawing/2014/main" id="{D9503EE7-8183-606B-BAD9-D8338FDE91A0}"/>
              </a:ext>
            </a:extLst>
          </p:cNvPr>
          <p:cNvSpPr txBox="1"/>
          <p:nvPr/>
        </p:nvSpPr>
        <p:spPr>
          <a:xfrm>
            <a:off x="220381" y="170075"/>
            <a:ext cx="4339650" cy="369332"/>
          </a:xfrm>
          <a:prstGeom prst="rect">
            <a:avLst/>
          </a:prstGeom>
          <a:noFill/>
        </p:spPr>
        <p:txBody>
          <a:bodyPr wrap="none" rtlCol="0">
            <a:spAutoFit/>
          </a:bodyPr>
          <a:lstStyle/>
          <a:p>
            <a:r>
              <a:rPr kumimoji="1" lang="en-US" altLang="ja-JP" b="1" dirty="0"/>
              <a:t>①</a:t>
            </a:r>
            <a:r>
              <a:rPr kumimoji="1" lang="ja-JP" altLang="en-US" b="1"/>
              <a:t>データベース：リアルタイムエンジン</a:t>
            </a:r>
          </a:p>
        </p:txBody>
      </p:sp>
      <p:sp>
        <p:nvSpPr>
          <p:cNvPr id="27" name="テキスト ボックス 26">
            <a:extLst>
              <a:ext uri="{FF2B5EF4-FFF2-40B4-BE49-F238E27FC236}">
                <a16:creationId xmlns:a16="http://schemas.microsoft.com/office/drawing/2014/main" id="{87628C20-0D65-97E4-96DC-BFBEE8F670EF}"/>
              </a:ext>
            </a:extLst>
          </p:cNvPr>
          <p:cNvSpPr txBox="1"/>
          <p:nvPr/>
        </p:nvSpPr>
        <p:spPr>
          <a:xfrm>
            <a:off x="517907" y="5101550"/>
            <a:ext cx="6280887" cy="1477328"/>
          </a:xfrm>
          <a:prstGeom prst="rect">
            <a:avLst/>
          </a:prstGeom>
          <a:noFill/>
        </p:spPr>
        <p:txBody>
          <a:bodyPr wrap="none" rtlCol="0">
            <a:spAutoFit/>
          </a:bodyPr>
          <a:lstStyle/>
          <a:p>
            <a:r>
              <a:rPr lang="ja-JP" altLang="en-US"/>
              <a:t>画像が転送されると</a:t>
            </a:r>
            <a:r>
              <a:rPr lang="en-US" altLang="ja-JP" dirty="0"/>
              <a:t>ROI</a:t>
            </a:r>
            <a:r>
              <a:rPr lang="ja-JP" altLang="en-US"/>
              <a:t>抽出</a:t>
            </a:r>
            <a:r>
              <a:rPr lang="en-US" altLang="ja-JP" dirty="0"/>
              <a:t>&amp;</a:t>
            </a:r>
            <a:r>
              <a:rPr lang="ja-JP" altLang="en-US"/>
              <a:t>推論が自動的に行われます。</a:t>
            </a:r>
            <a:endParaRPr lang="en-US" altLang="ja-JP" dirty="0"/>
          </a:p>
          <a:p>
            <a:r>
              <a:rPr kumimoji="1" lang="en-US" altLang="ja-JP" dirty="0"/>
              <a:t>①</a:t>
            </a:r>
            <a:r>
              <a:rPr kumimoji="1" lang="ja-JP" altLang="en-US"/>
              <a:t>顕微鏡を見ながら推論の修正を行います。</a:t>
            </a:r>
            <a:endParaRPr kumimoji="1" lang="en-US" altLang="ja-JP" dirty="0"/>
          </a:p>
          <a:p>
            <a:r>
              <a:rPr kumimoji="1" lang="en-US" altLang="ja-JP" dirty="0"/>
              <a:t>(Manual label, </a:t>
            </a:r>
            <a:r>
              <a:rPr kumimoji="1" lang="ja-JP" altLang="en-US"/>
              <a:t>手動</a:t>
            </a:r>
            <a:r>
              <a:rPr kumimoji="1" lang="en-US" altLang="ja-JP" dirty="0"/>
              <a:t>ROI</a:t>
            </a:r>
            <a:r>
              <a:rPr kumimoji="1" lang="ja-JP" altLang="en-US"/>
              <a:t>追加）</a:t>
            </a:r>
            <a:endParaRPr kumimoji="1" lang="en-US" altLang="ja-JP" dirty="0"/>
          </a:p>
          <a:p>
            <a:r>
              <a:rPr lang="en-US" altLang="ja-JP" dirty="0"/>
              <a:t>②</a:t>
            </a:r>
            <a:r>
              <a:rPr lang="ja-JP" altLang="en-US"/>
              <a:t>画像の保存を行います。</a:t>
            </a:r>
            <a:endParaRPr lang="en-US" altLang="ja-JP" dirty="0"/>
          </a:p>
          <a:p>
            <a:r>
              <a:rPr kumimoji="1" lang="en-US" altLang="ja-JP" dirty="0"/>
              <a:t>③</a:t>
            </a:r>
            <a:r>
              <a:rPr kumimoji="1" lang="ja-JP" altLang="en-US"/>
              <a:t>次に転送された画像が表示されます。</a:t>
            </a:r>
          </a:p>
        </p:txBody>
      </p:sp>
      <p:sp>
        <p:nvSpPr>
          <p:cNvPr id="28" name="正方形/長方形 27">
            <a:extLst>
              <a:ext uri="{FF2B5EF4-FFF2-40B4-BE49-F238E27FC236}">
                <a16:creationId xmlns:a16="http://schemas.microsoft.com/office/drawing/2014/main" id="{0E9E9C5B-687D-418D-DA68-501124ED482C}"/>
              </a:ext>
            </a:extLst>
          </p:cNvPr>
          <p:cNvSpPr/>
          <p:nvPr/>
        </p:nvSpPr>
        <p:spPr>
          <a:xfrm>
            <a:off x="5259917" y="4376057"/>
            <a:ext cx="1119112" cy="301913"/>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BCC21430-0B15-4FAA-0C46-D9C80E01C38F}"/>
              </a:ext>
            </a:extLst>
          </p:cNvPr>
          <p:cNvSpPr/>
          <p:nvPr/>
        </p:nvSpPr>
        <p:spPr>
          <a:xfrm>
            <a:off x="7969000" y="4282275"/>
            <a:ext cx="1119112" cy="301913"/>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cxnSp>
        <p:nvCxnSpPr>
          <p:cNvPr id="31" name="直線コネクタ 30">
            <a:extLst>
              <a:ext uri="{FF2B5EF4-FFF2-40B4-BE49-F238E27FC236}">
                <a16:creationId xmlns:a16="http://schemas.microsoft.com/office/drawing/2014/main" id="{6967F788-A34D-BD30-2A4D-7CE53E9D1046}"/>
              </a:ext>
            </a:extLst>
          </p:cNvPr>
          <p:cNvCxnSpPr>
            <a:stCxn id="28" idx="3"/>
          </p:cNvCxnSpPr>
          <p:nvPr/>
        </p:nvCxnSpPr>
        <p:spPr>
          <a:xfrm flipV="1">
            <a:off x="6379029" y="4434114"/>
            <a:ext cx="1589971" cy="92900"/>
          </a:xfrm>
          <a:prstGeom prst="line">
            <a:avLst/>
          </a:prstGeom>
        </p:spPr>
        <p:style>
          <a:lnRef idx="1">
            <a:schemeClr val="accent6"/>
          </a:lnRef>
          <a:fillRef idx="0">
            <a:schemeClr val="accent6"/>
          </a:fillRef>
          <a:effectRef idx="0">
            <a:schemeClr val="accent6"/>
          </a:effectRef>
          <a:fontRef idx="minor">
            <a:schemeClr val="tx1"/>
          </a:fontRef>
        </p:style>
      </p:cxnSp>
      <p:sp>
        <p:nvSpPr>
          <p:cNvPr id="32" name="正方形/長方形 31">
            <a:extLst>
              <a:ext uri="{FF2B5EF4-FFF2-40B4-BE49-F238E27FC236}">
                <a16:creationId xmlns:a16="http://schemas.microsoft.com/office/drawing/2014/main" id="{38296E26-1066-B1B7-494B-D065190D537D}"/>
              </a:ext>
            </a:extLst>
          </p:cNvPr>
          <p:cNvSpPr/>
          <p:nvPr/>
        </p:nvSpPr>
        <p:spPr>
          <a:xfrm>
            <a:off x="4214888" y="4161711"/>
            <a:ext cx="345143" cy="301913"/>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33" name="正方形/長方形 32">
            <a:extLst>
              <a:ext uri="{FF2B5EF4-FFF2-40B4-BE49-F238E27FC236}">
                <a16:creationId xmlns:a16="http://schemas.microsoft.com/office/drawing/2014/main" id="{DE302969-9A0F-051B-EBA5-B6BF2AFDDA11}"/>
              </a:ext>
            </a:extLst>
          </p:cNvPr>
          <p:cNvSpPr/>
          <p:nvPr/>
        </p:nvSpPr>
        <p:spPr>
          <a:xfrm>
            <a:off x="7718547" y="6015172"/>
            <a:ext cx="345143" cy="301913"/>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cxnSp>
        <p:nvCxnSpPr>
          <p:cNvPr id="34" name="直線コネクタ 33">
            <a:extLst>
              <a:ext uri="{FF2B5EF4-FFF2-40B4-BE49-F238E27FC236}">
                <a16:creationId xmlns:a16="http://schemas.microsoft.com/office/drawing/2014/main" id="{32747347-17AA-BDE7-65D8-531D2FC34C32}"/>
              </a:ext>
            </a:extLst>
          </p:cNvPr>
          <p:cNvCxnSpPr>
            <a:cxnSpLocks/>
            <a:stCxn id="32" idx="3"/>
          </p:cNvCxnSpPr>
          <p:nvPr/>
        </p:nvCxnSpPr>
        <p:spPr>
          <a:xfrm>
            <a:off x="4560031" y="4312668"/>
            <a:ext cx="3158516" cy="1822609"/>
          </a:xfrm>
          <a:prstGeom prst="line">
            <a:avLst/>
          </a:prstGeom>
        </p:spPr>
        <p:style>
          <a:lnRef idx="1">
            <a:schemeClr val="accent6"/>
          </a:lnRef>
          <a:fillRef idx="0">
            <a:schemeClr val="accent6"/>
          </a:fillRef>
          <a:effectRef idx="0">
            <a:schemeClr val="accent6"/>
          </a:effectRef>
          <a:fontRef idx="minor">
            <a:schemeClr val="tx1"/>
          </a:fontRef>
        </p:style>
      </p:cxnSp>
      <p:sp>
        <p:nvSpPr>
          <p:cNvPr id="37" name="正方形/長方形 36">
            <a:extLst>
              <a:ext uri="{FF2B5EF4-FFF2-40B4-BE49-F238E27FC236}">
                <a16:creationId xmlns:a16="http://schemas.microsoft.com/office/drawing/2014/main" id="{3C51B61B-B581-1A2A-6C89-FF3015AAFAC8}"/>
              </a:ext>
            </a:extLst>
          </p:cNvPr>
          <p:cNvSpPr/>
          <p:nvPr/>
        </p:nvSpPr>
        <p:spPr>
          <a:xfrm>
            <a:off x="5406481" y="2367499"/>
            <a:ext cx="1119112" cy="301913"/>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cxnSp>
        <p:nvCxnSpPr>
          <p:cNvPr id="38" name="直線コネクタ 37">
            <a:extLst>
              <a:ext uri="{FF2B5EF4-FFF2-40B4-BE49-F238E27FC236}">
                <a16:creationId xmlns:a16="http://schemas.microsoft.com/office/drawing/2014/main" id="{8D9BF04F-721E-D510-465A-B7F7EFF981E4}"/>
              </a:ext>
            </a:extLst>
          </p:cNvPr>
          <p:cNvCxnSpPr>
            <a:cxnSpLocks/>
            <a:endCxn id="40" idx="1"/>
          </p:cNvCxnSpPr>
          <p:nvPr/>
        </p:nvCxnSpPr>
        <p:spPr>
          <a:xfrm flipV="1">
            <a:off x="6525593" y="2052830"/>
            <a:ext cx="1473932" cy="438119"/>
          </a:xfrm>
          <a:prstGeom prst="line">
            <a:avLst/>
          </a:prstGeom>
        </p:spPr>
        <p:style>
          <a:lnRef idx="1">
            <a:schemeClr val="accent6"/>
          </a:lnRef>
          <a:fillRef idx="0">
            <a:schemeClr val="accent6"/>
          </a:fillRef>
          <a:effectRef idx="0">
            <a:schemeClr val="accent6"/>
          </a:effectRef>
          <a:fontRef idx="minor">
            <a:schemeClr val="tx1"/>
          </a:fontRef>
        </p:style>
      </p:cxnSp>
      <p:sp>
        <p:nvSpPr>
          <p:cNvPr id="40" name="正方形/長方形 39">
            <a:extLst>
              <a:ext uri="{FF2B5EF4-FFF2-40B4-BE49-F238E27FC236}">
                <a16:creationId xmlns:a16="http://schemas.microsoft.com/office/drawing/2014/main" id="{D527A591-9383-0E80-EB41-B2B4391C4391}"/>
              </a:ext>
            </a:extLst>
          </p:cNvPr>
          <p:cNvSpPr/>
          <p:nvPr/>
        </p:nvSpPr>
        <p:spPr>
          <a:xfrm>
            <a:off x="7999525" y="1796740"/>
            <a:ext cx="1845900" cy="512180"/>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43" name="テキスト ボックス 42">
            <a:extLst>
              <a:ext uri="{FF2B5EF4-FFF2-40B4-BE49-F238E27FC236}">
                <a16:creationId xmlns:a16="http://schemas.microsoft.com/office/drawing/2014/main" id="{77A0FB3E-7C62-1A79-3544-0D76314DEF2E}"/>
              </a:ext>
            </a:extLst>
          </p:cNvPr>
          <p:cNvSpPr txBox="1"/>
          <p:nvPr/>
        </p:nvSpPr>
        <p:spPr>
          <a:xfrm>
            <a:off x="9845425" y="1134165"/>
            <a:ext cx="2136043" cy="646331"/>
          </a:xfrm>
          <a:prstGeom prst="rect">
            <a:avLst/>
          </a:prstGeom>
          <a:noFill/>
        </p:spPr>
        <p:txBody>
          <a:bodyPr wrap="square" rtlCol="0">
            <a:spAutoFit/>
          </a:bodyPr>
          <a:lstStyle/>
          <a:p>
            <a:r>
              <a:rPr lang="ja-JP" altLang="en-US" sz="1200"/>
              <a:t>厚みのあるサンプルには</a:t>
            </a:r>
            <a:endParaRPr lang="en-US" altLang="ja-JP" sz="1200" dirty="0"/>
          </a:p>
          <a:p>
            <a:r>
              <a:rPr kumimoji="1" lang="en-US" altLang="ja-JP" sz="1200" dirty="0"/>
              <a:t>Z</a:t>
            </a:r>
            <a:r>
              <a:rPr kumimoji="1" lang="ja-JP" altLang="en-US" sz="1200"/>
              <a:t>軸を動かして同視野画像ファイルとして保存する</a:t>
            </a:r>
            <a:endParaRPr kumimoji="1" lang="en-US" altLang="ja-JP" sz="1200" dirty="0"/>
          </a:p>
        </p:txBody>
      </p:sp>
      <p:sp>
        <p:nvSpPr>
          <p:cNvPr id="44" name="テキスト ボックス 43">
            <a:extLst>
              <a:ext uri="{FF2B5EF4-FFF2-40B4-BE49-F238E27FC236}">
                <a16:creationId xmlns:a16="http://schemas.microsoft.com/office/drawing/2014/main" id="{F7FCBF53-5A3E-434C-AD13-0C13B16F5DB6}"/>
              </a:ext>
            </a:extLst>
          </p:cNvPr>
          <p:cNvSpPr txBox="1"/>
          <p:nvPr/>
        </p:nvSpPr>
        <p:spPr>
          <a:xfrm>
            <a:off x="10211562" y="3206281"/>
            <a:ext cx="2067015" cy="276999"/>
          </a:xfrm>
          <a:prstGeom prst="rect">
            <a:avLst/>
          </a:prstGeom>
          <a:noFill/>
        </p:spPr>
        <p:txBody>
          <a:bodyPr wrap="square" rtlCol="0">
            <a:spAutoFit/>
          </a:bodyPr>
          <a:lstStyle/>
          <a:p>
            <a:r>
              <a:rPr lang="en-US" altLang="ja-JP" sz="1200" dirty="0"/>
              <a:t>Manual label</a:t>
            </a:r>
            <a:r>
              <a:rPr lang="ja-JP" altLang="en-US" sz="1200"/>
              <a:t>を変更できる</a:t>
            </a:r>
            <a:endParaRPr lang="en-US" altLang="ja-JP" sz="1200" dirty="0"/>
          </a:p>
        </p:txBody>
      </p:sp>
      <p:sp>
        <p:nvSpPr>
          <p:cNvPr id="45" name="テキスト ボックス 44">
            <a:extLst>
              <a:ext uri="{FF2B5EF4-FFF2-40B4-BE49-F238E27FC236}">
                <a16:creationId xmlns:a16="http://schemas.microsoft.com/office/drawing/2014/main" id="{A7A55A49-8DAC-4D92-9458-04817243E87E}"/>
              </a:ext>
            </a:extLst>
          </p:cNvPr>
          <p:cNvSpPr txBox="1"/>
          <p:nvPr/>
        </p:nvSpPr>
        <p:spPr>
          <a:xfrm>
            <a:off x="10211562" y="5278398"/>
            <a:ext cx="1980438" cy="276999"/>
          </a:xfrm>
          <a:prstGeom prst="rect">
            <a:avLst/>
          </a:prstGeom>
          <a:noFill/>
        </p:spPr>
        <p:txBody>
          <a:bodyPr wrap="square" rtlCol="0">
            <a:spAutoFit/>
          </a:bodyPr>
          <a:lstStyle/>
          <a:p>
            <a:r>
              <a:rPr lang="en-US" altLang="ja-JP" sz="1200" dirty="0"/>
              <a:t>ROI</a:t>
            </a:r>
            <a:r>
              <a:rPr lang="ja-JP" altLang="en-US" sz="1200"/>
              <a:t>を追加できる</a:t>
            </a:r>
            <a:endParaRPr lang="en-US" altLang="ja-JP" sz="1200" dirty="0"/>
          </a:p>
        </p:txBody>
      </p:sp>
    </p:spTree>
    <p:extLst>
      <p:ext uri="{BB962C8B-B14F-4D97-AF65-F5344CB8AC3E}">
        <p14:creationId xmlns:p14="http://schemas.microsoft.com/office/powerpoint/2010/main" val="1947272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E44257A3-08E8-F000-8BEC-059D432D2393}"/>
              </a:ext>
            </a:extLst>
          </p:cNvPr>
          <p:cNvPicPr>
            <a:picLocks noChangeAspect="1"/>
          </p:cNvPicPr>
          <p:nvPr/>
        </p:nvPicPr>
        <p:blipFill>
          <a:blip r:embed="rId2"/>
          <a:srcRect t="-1" b="-1"/>
          <a:stretch>
            <a:fillRect/>
          </a:stretch>
        </p:blipFill>
        <p:spPr>
          <a:xfrm>
            <a:off x="0" y="666186"/>
            <a:ext cx="7772400" cy="4371974"/>
          </a:xfrm>
          <a:prstGeom prst="rect">
            <a:avLst/>
          </a:prstGeom>
        </p:spPr>
      </p:pic>
      <p:cxnSp>
        <p:nvCxnSpPr>
          <p:cNvPr id="4" name="直線コネクタ 3">
            <a:extLst>
              <a:ext uri="{FF2B5EF4-FFF2-40B4-BE49-F238E27FC236}">
                <a16:creationId xmlns:a16="http://schemas.microsoft.com/office/drawing/2014/main" id="{6416244D-872B-07D8-76F9-3FC523213263}"/>
              </a:ext>
            </a:extLst>
          </p:cNvPr>
          <p:cNvCxnSpPr>
            <a:cxnSpLocks/>
          </p:cNvCxnSpPr>
          <p:nvPr/>
        </p:nvCxnSpPr>
        <p:spPr>
          <a:xfrm>
            <a:off x="0" y="602796"/>
            <a:ext cx="12192000" cy="0"/>
          </a:xfrm>
          <a:prstGeom prst="line">
            <a:avLst/>
          </a:prstGeom>
          <a:ln w="19050"/>
        </p:spPr>
        <p:style>
          <a:lnRef idx="1">
            <a:schemeClr val="accent6"/>
          </a:lnRef>
          <a:fillRef idx="0">
            <a:schemeClr val="accent6"/>
          </a:fillRef>
          <a:effectRef idx="0">
            <a:schemeClr val="accent6"/>
          </a:effectRef>
          <a:fontRef idx="minor">
            <a:schemeClr val="tx1"/>
          </a:fontRef>
        </p:style>
      </p:cxnSp>
      <p:sp>
        <p:nvSpPr>
          <p:cNvPr id="5" name="テキスト ボックス 4">
            <a:extLst>
              <a:ext uri="{FF2B5EF4-FFF2-40B4-BE49-F238E27FC236}">
                <a16:creationId xmlns:a16="http://schemas.microsoft.com/office/drawing/2014/main" id="{33C4A15B-BB6D-F45C-3AF6-B1212EE1ECFE}"/>
              </a:ext>
            </a:extLst>
          </p:cNvPr>
          <p:cNvSpPr txBox="1"/>
          <p:nvPr/>
        </p:nvSpPr>
        <p:spPr>
          <a:xfrm>
            <a:off x="517907" y="5101550"/>
            <a:ext cx="7794121" cy="646331"/>
          </a:xfrm>
          <a:prstGeom prst="rect">
            <a:avLst/>
          </a:prstGeom>
          <a:noFill/>
        </p:spPr>
        <p:txBody>
          <a:bodyPr wrap="none" rtlCol="0">
            <a:spAutoFit/>
          </a:bodyPr>
          <a:lstStyle/>
          <a:p>
            <a:r>
              <a:rPr lang="ja-JP" altLang="en-US"/>
              <a:t>同ページを下にスクロールすると各</a:t>
            </a:r>
            <a:r>
              <a:rPr lang="en-US" altLang="ja-JP" dirty="0"/>
              <a:t>ROI</a:t>
            </a:r>
            <a:r>
              <a:rPr lang="ja-JP" altLang="en-US"/>
              <a:t>画像がリスト化されています。</a:t>
            </a:r>
            <a:endParaRPr lang="en-US" altLang="ja-JP" dirty="0"/>
          </a:p>
          <a:p>
            <a:r>
              <a:rPr kumimoji="1" lang="en-US" altLang="ja-JP" dirty="0"/>
              <a:t>Manual label</a:t>
            </a:r>
            <a:r>
              <a:rPr kumimoji="1" lang="ja-JP" altLang="en-US"/>
              <a:t>と同じ操作を視覚的にわかりやすく行うことができます。</a:t>
            </a:r>
          </a:p>
        </p:txBody>
      </p:sp>
      <p:cxnSp>
        <p:nvCxnSpPr>
          <p:cNvPr id="7" name="直線矢印コネクタ 6">
            <a:extLst>
              <a:ext uri="{FF2B5EF4-FFF2-40B4-BE49-F238E27FC236}">
                <a16:creationId xmlns:a16="http://schemas.microsoft.com/office/drawing/2014/main" id="{D7CCFA1C-369B-D24F-84B9-FB70F17AF9E6}"/>
              </a:ext>
            </a:extLst>
          </p:cNvPr>
          <p:cNvCxnSpPr/>
          <p:nvPr/>
        </p:nvCxnSpPr>
        <p:spPr>
          <a:xfrm flipV="1">
            <a:off x="2020874" y="3291840"/>
            <a:ext cx="2100022" cy="390144"/>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8" name="テキスト ボックス 7">
            <a:extLst>
              <a:ext uri="{FF2B5EF4-FFF2-40B4-BE49-F238E27FC236}">
                <a16:creationId xmlns:a16="http://schemas.microsoft.com/office/drawing/2014/main" id="{432179E9-C627-2681-E6F3-25274869F6D2}"/>
              </a:ext>
            </a:extLst>
          </p:cNvPr>
          <p:cNvSpPr txBox="1"/>
          <p:nvPr/>
        </p:nvSpPr>
        <p:spPr>
          <a:xfrm>
            <a:off x="220381" y="170075"/>
            <a:ext cx="4339650" cy="369332"/>
          </a:xfrm>
          <a:prstGeom prst="rect">
            <a:avLst/>
          </a:prstGeom>
          <a:noFill/>
        </p:spPr>
        <p:txBody>
          <a:bodyPr wrap="none" rtlCol="0">
            <a:spAutoFit/>
          </a:bodyPr>
          <a:lstStyle/>
          <a:p>
            <a:r>
              <a:rPr kumimoji="1" lang="en-US" altLang="ja-JP" b="1" dirty="0"/>
              <a:t>①</a:t>
            </a:r>
            <a:r>
              <a:rPr kumimoji="1" lang="ja-JP" altLang="en-US" b="1"/>
              <a:t>データベース：リアルタイムエンジン</a:t>
            </a:r>
          </a:p>
        </p:txBody>
      </p:sp>
    </p:spTree>
    <p:extLst>
      <p:ext uri="{BB962C8B-B14F-4D97-AF65-F5344CB8AC3E}">
        <p14:creationId xmlns:p14="http://schemas.microsoft.com/office/powerpoint/2010/main" val="6264218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4008CC0E-4308-58C2-D582-6A133C120769}"/>
              </a:ext>
            </a:extLst>
          </p:cNvPr>
          <p:cNvPicPr>
            <a:picLocks noChangeAspect="1"/>
          </p:cNvPicPr>
          <p:nvPr/>
        </p:nvPicPr>
        <p:blipFill>
          <a:blip r:embed="rId2"/>
          <a:stretch>
            <a:fillRect/>
          </a:stretch>
        </p:blipFill>
        <p:spPr>
          <a:xfrm>
            <a:off x="0" y="803190"/>
            <a:ext cx="7772400" cy="4371975"/>
          </a:xfrm>
          <a:prstGeom prst="rect">
            <a:avLst/>
          </a:prstGeom>
        </p:spPr>
      </p:pic>
      <p:sp>
        <p:nvSpPr>
          <p:cNvPr id="7" name="テキスト ボックス 6">
            <a:extLst>
              <a:ext uri="{FF2B5EF4-FFF2-40B4-BE49-F238E27FC236}">
                <a16:creationId xmlns:a16="http://schemas.microsoft.com/office/drawing/2014/main" id="{EC047905-E78A-B050-BB49-7865E02670D8}"/>
              </a:ext>
            </a:extLst>
          </p:cNvPr>
          <p:cNvSpPr txBox="1"/>
          <p:nvPr/>
        </p:nvSpPr>
        <p:spPr>
          <a:xfrm>
            <a:off x="580767" y="5424617"/>
            <a:ext cx="10626811" cy="646331"/>
          </a:xfrm>
          <a:prstGeom prst="rect">
            <a:avLst/>
          </a:prstGeom>
          <a:noFill/>
        </p:spPr>
        <p:txBody>
          <a:bodyPr wrap="square" rtlCol="0">
            <a:spAutoFit/>
          </a:bodyPr>
          <a:lstStyle/>
          <a:p>
            <a:r>
              <a:rPr kumimoji="1" lang="ja-JP" altLang="en-US"/>
              <a:t>リアルタイムエンジン</a:t>
            </a:r>
            <a:r>
              <a:rPr lang="ja-JP" altLang="en-US"/>
              <a:t>で保存した画像は下部の画像リストに追加されます。</a:t>
            </a:r>
            <a:endParaRPr lang="en-US" altLang="ja-JP" dirty="0"/>
          </a:p>
          <a:p>
            <a:r>
              <a:rPr kumimoji="1" lang="ja-JP" altLang="en-US"/>
              <a:t>アップロードした画像もここに追加されますので、この場から</a:t>
            </a:r>
            <a:r>
              <a:rPr kumimoji="1" lang="en-US" altLang="ja-JP" dirty="0" err="1"/>
              <a:t>Deepscan</a:t>
            </a:r>
            <a:r>
              <a:rPr lang="ja-JP" altLang="en-US"/>
              <a:t>で推論の修正が可能です。</a:t>
            </a:r>
            <a:endParaRPr kumimoji="1" lang="ja-JP" altLang="en-US"/>
          </a:p>
        </p:txBody>
      </p:sp>
      <p:sp>
        <p:nvSpPr>
          <p:cNvPr id="8" name="テキスト ボックス 7">
            <a:extLst>
              <a:ext uri="{FF2B5EF4-FFF2-40B4-BE49-F238E27FC236}">
                <a16:creationId xmlns:a16="http://schemas.microsoft.com/office/drawing/2014/main" id="{2D7221FC-446E-E57D-5E20-CE372C5EC589}"/>
              </a:ext>
            </a:extLst>
          </p:cNvPr>
          <p:cNvSpPr txBox="1"/>
          <p:nvPr/>
        </p:nvSpPr>
        <p:spPr>
          <a:xfrm>
            <a:off x="580767" y="6070948"/>
            <a:ext cx="11417644" cy="369332"/>
          </a:xfrm>
          <a:prstGeom prst="rect">
            <a:avLst/>
          </a:prstGeom>
          <a:noFill/>
        </p:spPr>
        <p:txBody>
          <a:bodyPr wrap="square" rtlCol="0">
            <a:spAutoFit/>
          </a:bodyPr>
          <a:lstStyle/>
          <a:p>
            <a:r>
              <a:rPr kumimoji="1" lang="en-US" altLang="ja-JP" dirty="0"/>
              <a:t>ROI</a:t>
            </a:r>
            <a:r>
              <a:rPr kumimoji="1" lang="ja-JP" altLang="en-US"/>
              <a:t>抽出</a:t>
            </a:r>
            <a:r>
              <a:rPr kumimoji="1" lang="en-US" altLang="ja-JP" dirty="0"/>
              <a:t>&amp;</a:t>
            </a:r>
            <a:r>
              <a:rPr kumimoji="1" lang="ja-JP" altLang="en-US"/>
              <a:t>推論を行うことにより、セルカウントボタンが現れ、全視野中の細胞数を集計することができます。</a:t>
            </a:r>
          </a:p>
        </p:txBody>
      </p:sp>
      <p:cxnSp>
        <p:nvCxnSpPr>
          <p:cNvPr id="9" name="直線コネクタ 8">
            <a:extLst>
              <a:ext uri="{FF2B5EF4-FFF2-40B4-BE49-F238E27FC236}">
                <a16:creationId xmlns:a16="http://schemas.microsoft.com/office/drawing/2014/main" id="{17DAB1F9-4E29-5B19-4BE6-0E1EBB248B44}"/>
              </a:ext>
            </a:extLst>
          </p:cNvPr>
          <p:cNvCxnSpPr>
            <a:cxnSpLocks/>
          </p:cNvCxnSpPr>
          <p:nvPr/>
        </p:nvCxnSpPr>
        <p:spPr>
          <a:xfrm>
            <a:off x="0" y="602796"/>
            <a:ext cx="12192000" cy="0"/>
          </a:xfrm>
          <a:prstGeom prst="line">
            <a:avLst/>
          </a:prstGeom>
          <a:ln w="19050"/>
        </p:spPr>
        <p:style>
          <a:lnRef idx="1">
            <a:schemeClr val="accent6"/>
          </a:lnRef>
          <a:fillRef idx="0">
            <a:schemeClr val="accent6"/>
          </a:fillRef>
          <a:effectRef idx="0">
            <a:schemeClr val="accent6"/>
          </a:effectRef>
          <a:fontRef idx="minor">
            <a:schemeClr val="tx1"/>
          </a:fontRef>
        </p:style>
      </p:cxnSp>
      <p:sp>
        <p:nvSpPr>
          <p:cNvPr id="10" name="テキスト ボックス 9">
            <a:extLst>
              <a:ext uri="{FF2B5EF4-FFF2-40B4-BE49-F238E27FC236}">
                <a16:creationId xmlns:a16="http://schemas.microsoft.com/office/drawing/2014/main" id="{650B519B-29A8-9AB4-9E04-5C6E2CECE13C}"/>
              </a:ext>
            </a:extLst>
          </p:cNvPr>
          <p:cNvSpPr txBox="1"/>
          <p:nvPr/>
        </p:nvSpPr>
        <p:spPr>
          <a:xfrm>
            <a:off x="220381" y="170075"/>
            <a:ext cx="3416320" cy="369332"/>
          </a:xfrm>
          <a:prstGeom prst="rect">
            <a:avLst/>
          </a:prstGeom>
          <a:noFill/>
        </p:spPr>
        <p:txBody>
          <a:bodyPr wrap="none" rtlCol="0">
            <a:spAutoFit/>
          </a:bodyPr>
          <a:lstStyle/>
          <a:p>
            <a:r>
              <a:rPr kumimoji="1" lang="en-US" altLang="ja-JP" b="1" dirty="0"/>
              <a:t>①</a:t>
            </a:r>
            <a:r>
              <a:rPr kumimoji="1" lang="ja-JP" altLang="en-US" b="1"/>
              <a:t>データベース：セルカウント</a:t>
            </a:r>
          </a:p>
        </p:txBody>
      </p:sp>
      <p:sp>
        <p:nvSpPr>
          <p:cNvPr id="11" name="正方形/長方形 10">
            <a:extLst>
              <a:ext uri="{FF2B5EF4-FFF2-40B4-BE49-F238E27FC236}">
                <a16:creationId xmlns:a16="http://schemas.microsoft.com/office/drawing/2014/main" id="{B001330D-0D14-0D16-B34C-B2A7C80775D1}"/>
              </a:ext>
            </a:extLst>
          </p:cNvPr>
          <p:cNvSpPr/>
          <p:nvPr/>
        </p:nvSpPr>
        <p:spPr>
          <a:xfrm>
            <a:off x="6198217" y="3884066"/>
            <a:ext cx="972017" cy="219584"/>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cxnSp>
        <p:nvCxnSpPr>
          <p:cNvPr id="12" name="直線コネクタ 11">
            <a:extLst>
              <a:ext uri="{FF2B5EF4-FFF2-40B4-BE49-F238E27FC236}">
                <a16:creationId xmlns:a16="http://schemas.microsoft.com/office/drawing/2014/main" id="{0B2F9CE0-03BD-9C05-48B7-03B7F3E62286}"/>
              </a:ext>
            </a:extLst>
          </p:cNvPr>
          <p:cNvCxnSpPr>
            <a:cxnSpLocks/>
          </p:cNvCxnSpPr>
          <p:nvPr/>
        </p:nvCxnSpPr>
        <p:spPr>
          <a:xfrm flipV="1">
            <a:off x="7170234" y="3884066"/>
            <a:ext cx="981307" cy="109792"/>
          </a:xfrm>
          <a:prstGeom prst="line">
            <a:avLst/>
          </a:prstGeom>
        </p:spPr>
        <p:style>
          <a:lnRef idx="1">
            <a:schemeClr val="accent6"/>
          </a:lnRef>
          <a:fillRef idx="0">
            <a:schemeClr val="accent6"/>
          </a:fillRef>
          <a:effectRef idx="0">
            <a:schemeClr val="accent6"/>
          </a:effectRef>
          <a:fontRef idx="minor">
            <a:schemeClr val="tx1"/>
          </a:fontRef>
        </p:style>
      </p:cxnSp>
      <p:sp>
        <p:nvSpPr>
          <p:cNvPr id="15" name="テキスト ボックス 14">
            <a:extLst>
              <a:ext uri="{FF2B5EF4-FFF2-40B4-BE49-F238E27FC236}">
                <a16:creationId xmlns:a16="http://schemas.microsoft.com/office/drawing/2014/main" id="{49AE9FAD-5465-9FBB-10FE-F1685239BB64}"/>
              </a:ext>
            </a:extLst>
          </p:cNvPr>
          <p:cNvSpPr txBox="1"/>
          <p:nvPr/>
        </p:nvSpPr>
        <p:spPr>
          <a:xfrm>
            <a:off x="8151541" y="3429000"/>
            <a:ext cx="3846870" cy="738664"/>
          </a:xfrm>
          <a:prstGeom prst="rect">
            <a:avLst/>
          </a:prstGeom>
          <a:noFill/>
        </p:spPr>
        <p:txBody>
          <a:bodyPr wrap="square" rtlCol="0">
            <a:spAutoFit/>
          </a:bodyPr>
          <a:lstStyle/>
          <a:p>
            <a:endParaRPr kumimoji="1" lang="en-US" altLang="ja-JP" sz="1400" dirty="0"/>
          </a:p>
          <a:p>
            <a:r>
              <a:rPr kumimoji="1" lang="ja-JP" altLang="en-US" sz="1400"/>
              <a:t>画像の保存と種別</a:t>
            </a:r>
            <a:r>
              <a:rPr kumimoji="1" lang="en-US" altLang="ja-JP" sz="1400" dirty="0"/>
              <a:t>(</a:t>
            </a:r>
            <a:r>
              <a:rPr kumimoji="1" lang="ja-JP" altLang="en-US" sz="1400"/>
              <a:t>アップロード・リアルタイム）の確認</a:t>
            </a:r>
            <a:r>
              <a:rPr lang="ja-JP" altLang="en-US" sz="1400"/>
              <a:t>が</a:t>
            </a:r>
            <a:r>
              <a:rPr kumimoji="1" lang="ja-JP" altLang="en-US" sz="1400"/>
              <a:t>できる</a:t>
            </a:r>
          </a:p>
        </p:txBody>
      </p:sp>
    </p:spTree>
    <p:extLst>
      <p:ext uri="{BB962C8B-B14F-4D97-AF65-F5344CB8AC3E}">
        <p14:creationId xmlns:p14="http://schemas.microsoft.com/office/powerpoint/2010/main" val="962496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802749B4-C779-2A16-8897-A6090E1EB4B6}"/>
              </a:ext>
            </a:extLst>
          </p:cNvPr>
          <p:cNvPicPr>
            <a:picLocks noChangeAspect="1"/>
          </p:cNvPicPr>
          <p:nvPr/>
        </p:nvPicPr>
        <p:blipFill>
          <a:blip r:embed="rId2"/>
          <a:stretch>
            <a:fillRect/>
          </a:stretch>
        </p:blipFill>
        <p:spPr>
          <a:xfrm>
            <a:off x="0" y="666186"/>
            <a:ext cx="7772400" cy="4371975"/>
          </a:xfrm>
          <a:prstGeom prst="rect">
            <a:avLst/>
          </a:prstGeom>
        </p:spPr>
      </p:pic>
      <p:sp>
        <p:nvSpPr>
          <p:cNvPr id="6" name="テキスト ボックス 5">
            <a:extLst>
              <a:ext uri="{FF2B5EF4-FFF2-40B4-BE49-F238E27FC236}">
                <a16:creationId xmlns:a16="http://schemas.microsoft.com/office/drawing/2014/main" id="{44DD1E9D-88E3-0847-EEF7-5E8DB914FD18}"/>
              </a:ext>
            </a:extLst>
          </p:cNvPr>
          <p:cNvSpPr txBox="1"/>
          <p:nvPr/>
        </p:nvSpPr>
        <p:spPr>
          <a:xfrm>
            <a:off x="220382" y="5288693"/>
            <a:ext cx="10505284" cy="646331"/>
          </a:xfrm>
          <a:prstGeom prst="rect">
            <a:avLst/>
          </a:prstGeom>
          <a:noFill/>
        </p:spPr>
        <p:txBody>
          <a:bodyPr wrap="square" rtlCol="0">
            <a:spAutoFit/>
          </a:bodyPr>
          <a:lstStyle/>
          <a:p>
            <a:r>
              <a:rPr lang="ja-JP" altLang="en-US"/>
              <a:t>各画像の</a:t>
            </a:r>
            <a:r>
              <a:rPr lang="en-US" altLang="ja-JP" dirty="0"/>
              <a:t>ROI</a:t>
            </a:r>
            <a:r>
              <a:rPr lang="ja-JP" altLang="en-US"/>
              <a:t>推論の結果から細胞数をカウントします。</a:t>
            </a:r>
            <a:r>
              <a:rPr lang="en-US" altLang="ja-JP" dirty="0"/>
              <a:t>Class1</a:t>
            </a:r>
            <a:r>
              <a:rPr lang="ja-JP" altLang="en-US"/>
              <a:t>については下部の</a:t>
            </a:r>
            <a:r>
              <a:rPr lang="en-US" altLang="ja-JP" dirty="0"/>
              <a:t>ROI</a:t>
            </a:r>
            <a:r>
              <a:rPr lang="ja-JP" altLang="en-US"/>
              <a:t>を参考に目視で細胞カウントを行い、集計します。</a:t>
            </a:r>
            <a:endParaRPr lang="en-US" altLang="ja-JP" dirty="0"/>
          </a:p>
        </p:txBody>
      </p:sp>
      <p:cxnSp>
        <p:nvCxnSpPr>
          <p:cNvPr id="7" name="直線コネクタ 6">
            <a:extLst>
              <a:ext uri="{FF2B5EF4-FFF2-40B4-BE49-F238E27FC236}">
                <a16:creationId xmlns:a16="http://schemas.microsoft.com/office/drawing/2014/main" id="{6B0913FE-8579-E511-4EA3-189D2C707110}"/>
              </a:ext>
            </a:extLst>
          </p:cNvPr>
          <p:cNvCxnSpPr>
            <a:cxnSpLocks/>
          </p:cNvCxnSpPr>
          <p:nvPr/>
        </p:nvCxnSpPr>
        <p:spPr>
          <a:xfrm>
            <a:off x="0" y="602796"/>
            <a:ext cx="12192000" cy="0"/>
          </a:xfrm>
          <a:prstGeom prst="line">
            <a:avLst/>
          </a:prstGeom>
          <a:ln w="19050"/>
        </p:spPr>
        <p:style>
          <a:lnRef idx="1">
            <a:schemeClr val="accent6"/>
          </a:lnRef>
          <a:fillRef idx="0">
            <a:schemeClr val="accent6"/>
          </a:fillRef>
          <a:effectRef idx="0">
            <a:schemeClr val="accent6"/>
          </a:effectRef>
          <a:fontRef idx="minor">
            <a:schemeClr val="tx1"/>
          </a:fontRef>
        </p:style>
      </p:cxnSp>
      <p:sp>
        <p:nvSpPr>
          <p:cNvPr id="8" name="テキスト ボックス 7">
            <a:extLst>
              <a:ext uri="{FF2B5EF4-FFF2-40B4-BE49-F238E27FC236}">
                <a16:creationId xmlns:a16="http://schemas.microsoft.com/office/drawing/2014/main" id="{F715E483-6106-BF59-B5FF-2A5D5E98C5F7}"/>
              </a:ext>
            </a:extLst>
          </p:cNvPr>
          <p:cNvSpPr txBox="1"/>
          <p:nvPr/>
        </p:nvSpPr>
        <p:spPr>
          <a:xfrm>
            <a:off x="220381" y="170075"/>
            <a:ext cx="3416320" cy="369332"/>
          </a:xfrm>
          <a:prstGeom prst="rect">
            <a:avLst/>
          </a:prstGeom>
          <a:noFill/>
        </p:spPr>
        <p:txBody>
          <a:bodyPr wrap="none" rtlCol="0">
            <a:spAutoFit/>
          </a:bodyPr>
          <a:lstStyle/>
          <a:p>
            <a:r>
              <a:rPr kumimoji="1" lang="en-US" altLang="ja-JP" b="1" dirty="0"/>
              <a:t>①</a:t>
            </a:r>
            <a:r>
              <a:rPr kumimoji="1" lang="ja-JP" altLang="en-US" b="1"/>
              <a:t>データベース：セルカウント</a:t>
            </a:r>
          </a:p>
        </p:txBody>
      </p:sp>
      <p:sp>
        <p:nvSpPr>
          <p:cNvPr id="9" name="正方形/長方形 8">
            <a:extLst>
              <a:ext uri="{FF2B5EF4-FFF2-40B4-BE49-F238E27FC236}">
                <a16:creationId xmlns:a16="http://schemas.microsoft.com/office/drawing/2014/main" id="{2E5D06D2-1782-2834-50CD-623BD52950A9}"/>
              </a:ext>
            </a:extLst>
          </p:cNvPr>
          <p:cNvSpPr/>
          <p:nvPr/>
        </p:nvSpPr>
        <p:spPr>
          <a:xfrm>
            <a:off x="5591991" y="1565246"/>
            <a:ext cx="1845900" cy="512180"/>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1A734AE6-1BD4-2FC9-37B7-C4D41D90A2EF}"/>
              </a:ext>
            </a:extLst>
          </p:cNvPr>
          <p:cNvCxnSpPr>
            <a:cxnSpLocks/>
          </p:cNvCxnSpPr>
          <p:nvPr/>
        </p:nvCxnSpPr>
        <p:spPr>
          <a:xfrm flipV="1">
            <a:off x="7437891" y="1736203"/>
            <a:ext cx="791709" cy="85133"/>
          </a:xfrm>
          <a:prstGeom prst="line">
            <a:avLst/>
          </a:prstGeom>
        </p:spPr>
        <p:style>
          <a:lnRef idx="1">
            <a:schemeClr val="accent6"/>
          </a:lnRef>
          <a:fillRef idx="0">
            <a:schemeClr val="accent6"/>
          </a:fillRef>
          <a:effectRef idx="0">
            <a:schemeClr val="accent6"/>
          </a:effectRef>
          <a:fontRef idx="minor">
            <a:schemeClr val="tx1"/>
          </a:fontRef>
        </p:style>
      </p:cxnSp>
      <p:sp>
        <p:nvSpPr>
          <p:cNvPr id="12" name="テキスト ボックス 11">
            <a:extLst>
              <a:ext uri="{FF2B5EF4-FFF2-40B4-BE49-F238E27FC236}">
                <a16:creationId xmlns:a16="http://schemas.microsoft.com/office/drawing/2014/main" id="{24B4E5AB-4EEA-5204-3DBB-D68E1F2375E4}"/>
              </a:ext>
            </a:extLst>
          </p:cNvPr>
          <p:cNvSpPr txBox="1"/>
          <p:nvPr/>
        </p:nvSpPr>
        <p:spPr>
          <a:xfrm>
            <a:off x="8229600" y="1551537"/>
            <a:ext cx="3721890" cy="369332"/>
          </a:xfrm>
          <a:prstGeom prst="rect">
            <a:avLst/>
          </a:prstGeom>
          <a:noFill/>
        </p:spPr>
        <p:txBody>
          <a:bodyPr wrap="square" rtlCol="0">
            <a:spAutoFit/>
          </a:bodyPr>
          <a:lstStyle/>
          <a:p>
            <a:r>
              <a:rPr lang="en-US" altLang="ja-JP" dirty="0"/>
              <a:t>CSV,PDF</a:t>
            </a:r>
            <a:r>
              <a:rPr lang="ja-JP" altLang="en-US"/>
              <a:t>ファイルでの出力が可能</a:t>
            </a:r>
            <a:endParaRPr lang="en-US" altLang="ja-JP" dirty="0"/>
          </a:p>
        </p:txBody>
      </p:sp>
    </p:spTree>
    <p:extLst>
      <p:ext uri="{BB962C8B-B14F-4D97-AF65-F5344CB8AC3E}">
        <p14:creationId xmlns:p14="http://schemas.microsoft.com/office/powerpoint/2010/main" val="2525506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F3A6D0FF-8533-B4D2-5CBD-59FC202F0ADE}"/>
              </a:ext>
            </a:extLst>
          </p:cNvPr>
          <p:cNvPicPr>
            <a:picLocks noChangeAspect="1"/>
          </p:cNvPicPr>
          <p:nvPr/>
        </p:nvPicPr>
        <p:blipFill>
          <a:blip r:embed="rId2"/>
          <a:stretch>
            <a:fillRect/>
          </a:stretch>
        </p:blipFill>
        <p:spPr>
          <a:xfrm>
            <a:off x="0" y="753763"/>
            <a:ext cx="7772400" cy="4371975"/>
          </a:xfrm>
          <a:prstGeom prst="rect">
            <a:avLst/>
          </a:prstGeom>
        </p:spPr>
      </p:pic>
      <p:cxnSp>
        <p:nvCxnSpPr>
          <p:cNvPr id="3" name="直線コネクタ 2">
            <a:extLst>
              <a:ext uri="{FF2B5EF4-FFF2-40B4-BE49-F238E27FC236}">
                <a16:creationId xmlns:a16="http://schemas.microsoft.com/office/drawing/2014/main" id="{4C678FDA-9FB7-B739-A0BD-2DED67461ECC}"/>
              </a:ext>
            </a:extLst>
          </p:cNvPr>
          <p:cNvCxnSpPr>
            <a:cxnSpLocks/>
          </p:cNvCxnSpPr>
          <p:nvPr/>
        </p:nvCxnSpPr>
        <p:spPr>
          <a:xfrm>
            <a:off x="0" y="602796"/>
            <a:ext cx="12192000" cy="0"/>
          </a:xfrm>
          <a:prstGeom prst="line">
            <a:avLst/>
          </a:prstGeom>
          <a:ln w="19050"/>
        </p:spPr>
        <p:style>
          <a:lnRef idx="1">
            <a:schemeClr val="accent6"/>
          </a:lnRef>
          <a:fillRef idx="0">
            <a:schemeClr val="accent6"/>
          </a:fillRef>
          <a:effectRef idx="0">
            <a:schemeClr val="accent6"/>
          </a:effectRef>
          <a:fontRef idx="minor">
            <a:schemeClr val="tx1"/>
          </a:fontRef>
        </p:style>
      </p:cxnSp>
      <p:sp>
        <p:nvSpPr>
          <p:cNvPr id="4" name="テキスト ボックス 3">
            <a:extLst>
              <a:ext uri="{FF2B5EF4-FFF2-40B4-BE49-F238E27FC236}">
                <a16:creationId xmlns:a16="http://schemas.microsoft.com/office/drawing/2014/main" id="{0E3D9B35-6A96-C280-3E25-078CE9938615}"/>
              </a:ext>
            </a:extLst>
          </p:cNvPr>
          <p:cNvSpPr txBox="1"/>
          <p:nvPr/>
        </p:nvSpPr>
        <p:spPr>
          <a:xfrm>
            <a:off x="220381" y="170075"/>
            <a:ext cx="5262979" cy="369332"/>
          </a:xfrm>
          <a:prstGeom prst="rect">
            <a:avLst/>
          </a:prstGeom>
          <a:noFill/>
        </p:spPr>
        <p:txBody>
          <a:bodyPr wrap="none" rtlCol="0">
            <a:spAutoFit/>
          </a:bodyPr>
          <a:lstStyle/>
          <a:p>
            <a:r>
              <a:rPr kumimoji="1" lang="en-US" altLang="ja-JP" b="1" dirty="0"/>
              <a:t>①</a:t>
            </a:r>
            <a:r>
              <a:rPr kumimoji="1" lang="ja-JP" altLang="en-US" b="1"/>
              <a:t>データベース：補足（同視野フォルダリスト）</a:t>
            </a:r>
          </a:p>
        </p:txBody>
      </p:sp>
      <p:sp>
        <p:nvSpPr>
          <p:cNvPr id="5" name="テキスト ボックス 4">
            <a:extLst>
              <a:ext uri="{FF2B5EF4-FFF2-40B4-BE49-F238E27FC236}">
                <a16:creationId xmlns:a16="http://schemas.microsoft.com/office/drawing/2014/main" id="{A04B3628-CE4F-22BB-7FF5-7108F86A6B22}"/>
              </a:ext>
            </a:extLst>
          </p:cNvPr>
          <p:cNvSpPr txBox="1"/>
          <p:nvPr/>
        </p:nvSpPr>
        <p:spPr>
          <a:xfrm>
            <a:off x="220381" y="5205620"/>
            <a:ext cx="12176731" cy="923330"/>
          </a:xfrm>
          <a:prstGeom prst="rect">
            <a:avLst/>
          </a:prstGeom>
          <a:noFill/>
        </p:spPr>
        <p:txBody>
          <a:bodyPr wrap="none" rtlCol="0">
            <a:spAutoFit/>
          </a:bodyPr>
          <a:lstStyle/>
          <a:p>
            <a:r>
              <a:rPr kumimoji="1" lang="ja-JP" altLang="en-US"/>
              <a:t>画像フォルダの下部に同視野フォルダリストもあります。</a:t>
            </a:r>
            <a:endParaRPr kumimoji="1" lang="en-US" altLang="ja-JP" dirty="0"/>
          </a:p>
          <a:p>
            <a:r>
              <a:rPr lang="en-US" altLang="ja-JP" dirty="0"/>
              <a:t>Tenengrad</a:t>
            </a:r>
            <a:r>
              <a:rPr lang="ja-JP" altLang="en-US"/>
              <a:t>を指標にフォルダ中の全画像中のフォーカス値が最も高いピクセル達をマージし、画像を作成します。</a:t>
            </a:r>
            <a:endParaRPr lang="en-US" altLang="ja-JP" dirty="0"/>
          </a:p>
          <a:p>
            <a:r>
              <a:rPr lang="ja-JP" altLang="en-US"/>
              <a:t>（機能としてはありますが、サンプルとしては使えるかはわからないので他の方法を考えています。）</a:t>
            </a:r>
            <a:endParaRPr kumimoji="1" lang="ja-JP" altLang="en-US"/>
          </a:p>
        </p:txBody>
      </p:sp>
    </p:spTree>
    <p:extLst>
      <p:ext uri="{BB962C8B-B14F-4D97-AF65-F5344CB8AC3E}">
        <p14:creationId xmlns:p14="http://schemas.microsoft.com/office/powerpoint/2010/main" val="809365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0200CECB-0036-5F73-BB66-010CB31998AF}"/>
              </a:ext>
            </a:extLst>
          </p:cNvPr>
          <p:cNvPicPr>
            <a:picLocks noChangeAspect="1"/>
          </p:cNvPicPr>
          <p:nvPr/>
        </p:nvPicPr>
        <p:blipFill>
          <a:blip r:embed="rId2"/>
          <a:stretch>
            <a:fillRect/>
          </a:stretch>
        </p:blipFill>
        <p:spPr>
          <a:xfrm>
            <a:off x="0" y="666186"/>
            <a:ext cx="7772400" cy="4371975"/>
          </a:xfrm>
          <a:prstGeom prst="rect">
            <a:avLst/>
          </a:prstGeom>
        </p:spPr>
      </p:pic>
      <p:cxnSp>
        <p:nvCxnSpPr>
          <p:cNvPr id="3" name="直線コネクタ 2">
            <a:extLst>
              <a:ext uri="{FF2B5EF4-FFF2-40B4-BE49-F238E27FC236}">
                <a16:creationId xmlns:a16="http://schemas.microsoft.com/office/drawing/2014/main" id="{DE522513-8435-12AF-C5C5-2A6510E7E035}"/>
              </a:ext>
            </a:extLst>
          </p:cNvPr>
          <p:cNvCxnSpPr>
            <a:cxnSpLocks/>
          </p:cNvCxnSpPr>
          <p:nvPr/>
        </p:nvCxnSpPr>
        <p:spPr>
          <a:xfrm>
            <a:off x="0" y="602796"/>
            <a:ext cx="12192000" cy="0"/>
          </a:xfrm>
          <a:prstGeom prst="line">
            <a:avLst/>
          </a:prstGeom>
          <a:ln w="19050"/>
        </p:spPr>
        <p:style>
          <a:lnRef idx="1">
            <a:schemeClr val="accent6"/>
          </a:lnRef>
          <a:fillRef idx="0">
            <a:schemeClr val="accent6"/>
          </a:fillRef>
          <a:effectRef idx="0">
            <a:schemeClr val="accent6"/>
          </a:effectRef>
          <a:fontRef idx="minor">
            <a:schemeClr val="tx1"/>
          </a:fontRef>
        </p:style>
      </p:cxnSp>
      <p:sp>
        <p:nvSpPr>
          <p:cNvPr id="4" name="テキスト ボックス 3">
            <a:extLst>
              <a:ext uri="{FF2B5EF4-FFF2-40B4-BE49-F238E27FC236}">
                <a16:creationId xmlns:a16="http://schemas.microsoft.com/office/drawing/2014/main" id="{8AD78C40-B388-41FA-ACE3-A0C81EF71E64}"/>
              </a:ext>
            </a:extLst>
          </p:cNvPr>
          <p:cNvSpPr txBox="1"/>
          <p:nvPr/>
        </p:nvSpPr>
        <p:spPr>
          <a:xfrm>
            <a:off x="220381" y="170075"/>
            <a:ext cx="1800493" cy="369332"/>
          </a:xfrm>
          <a:prstGeom prst="rect">
            <a:avLst/>
          </a:prstGeom>
          <a:noFill/>
        </p:spPr>
        <p:txBody>
          <a:bodyPr wrap="none" rtlCol="0">
            <a:spAutoFit/>
          </a:bodyPr>
          <a:lstStyle/>
          <a:p>
            <a:r>
              <a:rPr lang="en-US" altLang="ja-JP" b="1" dirty="0"/>
              <a:t>②</a:t>
            </a:r>
            <a:r>
              <a:rPr lang="ja-JP" altLang="en-US" b="1"/>
              <a:t>モデルの選択</a:t>
            </a:r>
            <a:endParaRPr kumimoji="1" lang="ja-JP" altLang="en-US" b="1"/>
          </a:p>
        </p:txBody>
      </p:sp>
      <p:sp>
        <p:nvSpPr>
          <p:cNvPr id="5" name="テキスト ボックス 4">
            <a:extLst>
              <a:ext uri="{FF2B5EF4-FFF2-40B4-BE49-F238E27FC236}">
                <a16:creationId xmlns:a16="http://schemas.microsoft.com/office/drawing/2014/main" id="{29701CD4-81D9-F2EE-7051-F8B7AFCF5D08}"/>
              </a:ext>
            </a:extLst>
          </p:cNvPr>
          <p:cNvSpPr txBox="1"/>
          <p:nvPr/>
        </p:nvSpPr>
        <p:spPr>
          <a:xfrm>
            <a:off x="239047" y="5101550"/>
            <a:ext cx="7261504" cy="369332"/>
          </a:xfrm>
          <a:prstGeom prst="rect">
            <a:avLst/>
          </a:prstGeom>
          <a:noFill/>
        </p:spPr>
        <p:txBody>
          <a:bodyPr wrap="square" rtlCol="0">
            <a:spAutoFit/>
          </a:bodyPr>
          <a:lstStyle/>
          <a:p>
            <a:r>
              <a:rPr kumimoji="1" lang="ja-JP" altLang="en-US"/>
              <a:t>使いたいモデルをアップロード、選択することができます。</a:t>
            </a:r>
          </a:p>
        </p:txBody>
      </p:sp>
    </p:spTree>
    <p:extLst>
      <p:ext uri="{BB962C8B-B14F-4D97-AF65-F5344CB8AC3E}">
        <p14:creationId xmlns:p14="http://schemas.microsoft.com/office/powerpoint/2010/main" val="3798714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5FD3127F-D9A8-62DA-00C4-2ADAF0E09F5B}"/>
              </a:ext>
            </a:extLst>
          </p:cNvPr>
          <p:cNvPicPr>
            <a:picLocks noChangeAspect="1"/>
          </p:cNvPicPr>
          <p:nvPr/>
        </p:nvPicPr>
        <p:blipFill>
          <a:blip r:embed="rId2"/>
          <a:stretch>
            <a:fillRect/>
          </a:stretch>
        </p:blipFill>
        <p:spPr>
          <a:xfrm>
            <a:off x="8254314" y="2640706"/>
            <a:ext cx="3590925" cy="2019895"/>
          </a:xfrm>
          <a:prstGeom prst="rect">
            <a:avLst/>
          </a:prstGeom>
        </p:spPr>
      </p:pic>
      <p:pic>
        <p:nvPicPr>
          <p:cNvPr id="7" name="図 6">
            <a:extLst>
              <a:ext uri="{FF2B5EF4-FFF2-40B4-BE49-F238E27FC236}">
                <a16:creationId xmlns:a16="http://schemas.microsoft.com/office/drawing/2014/main" id="{E533367A-CEC4-3A0A-AFE5-31E106A299F4}"/>
              </a:ext>
            </a:extLst>
          </p:cNvPr>
          <p:cNvPicPr>
            <a:picLocks noChangeAspect="1"/>
          </p:cNvPicPr>
          <p:nvPr/>
        </p:nvPicPr>
        <p:blipFill>
          <a:blip r:embed="rId3"/>
          <a:stretch>
            <a:fillRect/>
          </a:stretch>
        </p:blipFill>
        <p:spPr>
          <a:xfrm>
            <a:off x="0" y="759313"/>
            <a:ext cx="7772400" cy="4371975"/>
          </a:xfrm>
          <a:prstGeom prst="rect">
            <a:avLst/>
          </a:prstGeom>
        </p:spPr>
      </p:pic>
      <p:sp>
        <p:nvSpPr>
          <p:cNvPr id="11" name="テキスト ボックス 10">
            <a:extLst>
              <a:ext uri="{FF2B5EF4-FFF2-40B4-BE49-F238E27FC236}">
                <a16:creationId xmlns:a16="http://schemas.microsoft.com/office/drawing/2014/main" id="{57FC7021-B86C-AFE2-A8DB-72FC3DECFEEC}"/>
              </a:ext>
            </a:extLst>
          </p:cNvPr>
          <p:cNvSpPr txBox="1"/>
          <p:nvPr/>
        </p:nvSpPr>
        <p:spPr>
          <a:xfrm>
            <a:off x="8254314" y="963828"/>
            <a:ext cx="3416320" cy="646331"/>
          </a:xfrm>
          <a:prstGeom prst="rect">
            <a:avLst/>
          </a:prstGeom>
          <a:noFill/>
        </p:spPr>
        <p:txBody>
          <a:bodyPr wrap="none" rtlCol="0">
            <a:spAutoFit/>
          </a:bodyPr>
          <a:lstStyle/>
          <a:p>
            <a:r>
              <a:rPr kumimoji="1" lang="ja-JP" altLang="en-US"/>
              <a:t>アクセスする前にパスワードが</a:t>
            </a:r>
            <a:endParaRPr kumimoji="1" lang="en-US" altLang="ja-JP" dirty="0"/>
          </a:p>
          <a:p>
            <a:r>
              <a:rPr lang="ja-JP" altLang="en-US"/>
              <a:t>要求されます</a:t>
            </a:r>
            <a:endParaRPr kumimoji="1" lang="ja-JP" altLang="en-US"/>
          </a:p>
        </p:txBody>
      </p:sp>
      <p:sp>
        <p:nvSpPr>
          <p:cNvPr id="12" name="テキスト ボックス 11">
            <a:extLst>
              <a:ext uri="{FF2B5EF4-FFF2-40B4-BE49-F238E27FC236}">
                <a16:creationId xmlns:a16="http://schemas.microsoft.com/office/drawing/2014/main" id="{8EBAA53F-5F1B-21EB-FD14-04B02C85C6FD}"/>
              </a:ext>
            </a:extLst>
          </p:cNvPr>
          <p:cNvSpPr txBox="1"/>
          <p:nvPr/>
        </p:nvSpPr>
        <p:spPr>
          <a:xfrm>
            <a:off x="8254314" y="1649794"/>
            <a:ext cx="4246605" cy="646331"/>
          </a:xfrm>
          <a:prstGeom prst="rect">
            <a:avLst/>
          </a:prstGeom>
          <a:noFill/>
        </p:spPr>
        <p:txBody>
          <a:bodyPr wrap="square" rtlCol="0">
            <a:spAutoFit/>
          </a:bodyPr>
          <a:lstStyle/>
          <a:p>
            <a:r>
              <a:rPr kumimoji="1" lang="ja-JP" altLang="en-US"/>
              <a:t>パスワードのヒントは</a:t>
            </a:r>
            <a:r>
              <a:rPr kumimoji="1" lang="en-US" altLang="ja-JP" dirty="0"/>
              <a:t> </a:t>
            </a:r>
          </a:p>
          <a:p>
            <a:r>
              <a:rPr lang="ja-JP" altLang="en-US"/>
              <a:t>高知</a:t>
            </a:r>
            <a:r>
              <a:rPr lang="en-US" altLang="ja-JP" dirty="0">
                <a:highlight>
                  <a:srgbClr val="FFFF00"/>
                </a:highlight>
              </a:rPr>
              <a:t>OOOO</a:t>
            </a:r>
            <a:r>
              <a:rPr kumimoji="1" lang="ja-JP" altLang="en-US"/>
              <a:t>研究所です。（大文字）</a:t>
            </a:r>
            <a:endParaRPr kumimoji="1" lang="en-US" altLang="ja-JP" dirty="0"/>
          </a:p>
        </p:txBody>
      </p:sp>
      <p:cxnSp>
        <p:nvCxnSpPr>
          <p:cNvPr id="13" name="直線コネクタ 12">
            <a:extLst>
              <a:ext uri="{FF2B5EF4-FFF2-40B4-BE49-F238E27FC236}">
                <a16:creationId xmlns:a16="http://schemas.microsoft.com/office/drawing/2014/main" id="{9713B390-804A-3F10-E407-3B11D1354949}"/>
              </a:ext>
            </a:extLst>
          </p:cNvPr>
          <p:cNvCxnSpPr>
            <a:cxnSpLocks/>
          </p:cNvCxnSpPr>
          <p:nvPr/>
        </p:nvCxnSpPr>
        <p:spPr>
          <a:xfrm>
            <a:off x="0" y="602796"/>
            <a:ext cx="12192000" cy="0"/>
          </a:xfrm>
          <a:prstGeom prst="line">
            <a:avLst/>
          </a:prstGeom>
          <a:ln w="19050"/>
        </p:spPr>
        <p:style>
          <a:lnRef idx="1">
            <a:schemeClr val="accent6"/>
          </a:lnRef>
          <a:fillRef idx="0">
            <a:schemeClr val="accent6"/>
          </a:fillRef>
          <a:effectRef idx="0">
            <a:schemeClr val="accent6"/>
          </a:effectRef>
          <a:fontRef idx="minor">
            <a:schemeClr val="tx1"/>
          </a:fontRef>
        </p:style>
      </p:cxnSp>
      <p:sp>
        <p:nvSpPr>
          <p:cNvPr id="14" name="テキスト ボックス 13">
            <a:extLst>
              <a:ext uri="{FF2B5EF4-FFF2-40B4-BE49-F238E27FC236}">
                <a16:creationId xmlns:a16="http://schemas.microsoft.com/office/drawing/2014/main" id="{10AFFC95-C460-1474-A6BF-97433524F311}"/>
              </a:ext>
            </a:extLst>
          </p:cNvPr>
          <p:cNvSpPr txBox="1"/>
          <p:nvPr/>
        </p:nvSpPr>
        <p:spPr>
          <a:xfrm>
            <a:off x="220380" y="170075"/>
            <a:ext cx="3140657" cy="369332"/>
          </a:xfrm>
          <a:prstGeom prst="rect">
            <a:avLst/>
          </a:prstGeom>
          <a:noFill/>
        </p:spPr>
        <p:txBody>
          <a:bodyPr wrap="square" rtlCol="0">
            <a:spAutoFit/>
          </a:bodyPr>
          <a:lstStyle/>
          <a:p>
            <a:r>
              <a:rPr kumimoji="1" lang="en-US" altLang="ja-JP" b="1" dirty="0"/>
              <a:t>③</a:t>
            </a:r>
            <a:r>
              <a:rPr kumimoji="1" lang="ja-JP" altLang="en-US" b="1"/>
              <a:t>再学習（作成中）</a:t>
            </a:r>
          </a:p>
        </p:txBody>
      </p:sp>
      <p:sp>
        <p:nvSpPr>
          <p:cNvPr id="15" name="テキスト ボックス 14">
            <a:extLst>
              <a:ext uri="{FF2B5EF4-FFF2-40B4-BE49-F238E27FC236}">
                <a16:creationId xmlns:a16="http://schemas.microsoft.com/office/drawing/2014/main" id="{9E07D812-E612-7A00-3D36-6E17BA5AB221}"/>
              </a:ext>
            </a:extLst>
          </p:cNvPr>
          <p:cNvSpPr txBox="1"/>
          <p:nvPr/>
        </p:nvSpPr>
        <p:spPr>
          <a:xfrm>
            <a:off x="220380" y="5287804"/>
            <a:ext cx="3140657" cy="369332"/>
          </a:xfrm>
          <a:prstGeom prst="rect">
            <a:avLst/>
          </a:prstGeom>
          <a:noFill/>
        </p:spPr>
        <p:txBody>
          <a:bodyPr wrap="square" rtlCol="0">
            <a:spAutoFit/>
          </a:bodyPr>
          <a:lstStyle/>
          <a:p>
            <a:r>
              <a:rPr kumimoji="1" lang="ja-JP" altLang="en-US">
                <a:solidFill>
                  <a:srgbClr val="FF0000"/>
                </a:solidFill>
              </a:rPr>
              <a:t>現在試作段階です。</a:t>
            </a:r>
          </a:p>
        </p:txBody>
      </p:sp>
      <p:sp>
        <p:nvSpPr>
          <p:cNvPr id="16" name="テキスト ボックス 15">
            <a:extLst>
              <a:ext uri="{FF2B5EF4-FFF2-40B4-BE49-F238E27FC236}">
                <a16:creationId xmlns:a16="http://schemas.microsoft.com/office/drawing/2014/main" id="{3E6C7795-4C37-92DF-3545-7B9AC9C26A6B}"/>
              </a:ext>
            </a:extLst>
          </p:cNvPr>
          <p:cNvSpPr txBox="1"/>
          <p:nvPr/>
        </p:nvSpPr>
        <p:spPr>
          <a:xfrm>
            <a:off x="220380" y="5628986"/>
            <a:ext cx="10332290" cy="369332"/>
          </a:xfrm>
          <a:prstGeom prst="rect">
            <a:avLst/>
          </a:prstGeom>
          <a:noFill/>
        </p:spPr>
        <p:txBody>
          <a:bodyPr wrap="square" rtlCol="0">
            <a:spAutoFit/>
          </a:bodyPr>
          <a:lstStyle/>
          <a:p>
            <a:r>
              <a:rPr lang="ja-JP" altLang="en-US"/>
              <a:t>観察を実施したプロジェクト、アップロードしたプロジェクトを再学習に適応させます。</a:t>
            </a:r>
            <a:endParaRPr lang="en-US" altLang="ja-JP" dirty="0"/>
          </a:p>
        </p:txBody>
      </p:sp>
    </p:spTree>
    <p:extLst>
      <p:ext uri="{BB962C8B-B14F-4D97-AF65-F5344CB8AC3E}">
        <p14:creationId xmlns:p14="http://schemas.microsoft.com/office/powerpoint/2010/main" val="3166101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A410D6A9-CED8-3C9B-71B9-D7DD73E5F3D4}"/>
              </a:ext>
            </a:extLst>
          </p:cNvPr>
          <p:cNvPicPr>
            <a:picLocks noChangeAspect="1"/>
          </p:cNvPicPr>
          <p:nvPr/>
        </p:nvPicPr>
        <p:blipFill>
          <a:blip r:embed="rId2"/>
          <a:stretch>
            <a:fillRect/>
          </a:stretch>
        </p:blipFill>
        <p:spPr>
          <a:xfrm>
            <a:off x="0" y="666187"/>
            <a:ext cx="7081024" cy="3983076"/>
          </a:xfrm>
          <a:prstGeom prst="rect">
            <a:avLst/>
          </a:prstGeom>
        </p:spPr>
      </p:pic>
      <p:pic>
        <p:nvPicPr>
          <p:cNvPr id="7" name="図 6">
            <a:extLst>
              <a:ext uri="{FF2B5EF4-FFF2-40B4-BE49-F238E27FC236}">
                <a16:creationId xmlns:a16="http://schemas.microsoft.com/office/drawing/2014/main" id="{94C160DF-0E86-37E8-A086-2DEDE85F2579}"/>
              </a:ext>
            </a:extLst>
          </p:cNvPr>
          <p:cNvPicPr>
            <a:picLocks noChangeAspect="1"/>
          </p:cNvPicPr>
          <p:nvPr/>
        </p:nvPicPr>
        <p:blipFill>
          <a:blip r:embed="rId3"/>
          <a:srcRect l="11256" t="33818" r="12845" b="59527"/>
          <a:stretch>
            <a:fillRect/>
          </a:stretch>
        </p:blipFill>
        <p:spPr>
          <a:xfrm>
            <a:off x="347241" y="5364332"/>
            <a:ext cx="10225669" cy="504317"/>
          </a:xfrm>
          <a:prstGeom prst="rect">
            <a:avLst/>
          </a:prstGeom>
        </p:spPr>
      </p:pic>
      <p:cxnSp>
        <p:nvCxnSpPr>
          <p:cNvPr id="14" name="直線コネクタ 13">
            <a:extLst>
              <a:ext uri="{FF2B5EF4-FFF2-40B4-BE49-F238E27FC236}">
                <a16:creationId xmlns:a16="http://schemas.microsoft.com/office/drawing/2014/main" id="{D38FFF53-1BEE-6A97-3604-9AB2ECA40C89}"/>
              </a:ext>
            </a:extLst>
          </p:cNvPr>
          <p:cNvCxnSpPr>
            <a:cxnSpLocks/>
          </p:cNvCxnSpPr>
          <p:nvPr/>
        </p:nvCxnSpPr>
        <p:spPr>
          <a:xfrm>
            <a:off x="0" y="602796"/>
            <a:ext cx="12192000" cy="0"/>
          </a:xfrm>
          <a:prstGeom prst="line">
            <a:avLst/>
          </a:prstGeom>
          <a:ln w="19050"/>
        </p:spPr>
        <p:style>
          <a:lnRef idx="1">
            <a:schemeClr val="accent6"/>
          </a:lnRef>
          <a:fillRef idx="0">
            <a:schemeClr val="accent6"/>
          </a:fillRef>
          <a:effectRef idx="0">
            <a:schemeClr val="accent6"/>
          </a:effectRef>
          <a:fontRef idx="minor">
            <a:schemeClr val="tx1"/>
          </a:fontRef>
        </p:style>
      </p:cxnSp>
      <p:sp>
        <p:nvSpPr>
          <p:cNvPr id="15" name="テキスト ボックス 14">
            <a:extLst>
              <a:ext uri="{FF2B5EF4-FFF2-40B4-BE49-F238E27FC236}">
                <a16:creationId xmlns:a16="http://schemas.microsoft.com/office/drawing/2014/main" id="{DBAB7C85-6DEE-C968-71DF-A685782EC9D2}"/>
              </a:ext>
            </a:extLst>
          </p:cNvPr>
          <p:cNvSpPr txBox="1"/>
          <p:nvPr/>
        </p:nvSpPr>
        <p:spPr>
          <a:xfrm>
            <a:off x="220380" y="170075"/>
            <a:ext cx="3140657" cy="369332"/>
          </a:xfrm>
          <a:prstGeom prst="rect">
            <a:avLst/>
          </a:prstGeom>
          <a:noFill/>
        </p:spPr>
        <p:txBody>
          <a:bodyPr wrap="square" rtlCol="0">
            <a:spAutoFit/>
          </a:bodyPr>
          <a:lstStyle/>
          <a:p>
            <a:r>
              <a:rPr kumimoji="1" lang="en-US" altLang="ja-JP" b="1" dirty="0"/>
              <a:t>④Swagger</a:t>
            </a:r>
            <a:endParaRPr kumimoji="1" lang="ja-JP" altLang="en-US" b="1"/>
          </a:p>
        </p:txBody>
      </p:sp>
      <p:sp>
        <p:nvSpPr>
          <p:cNvPr id="16" name="テキスト ボックス 15">
            <a:extLst>
              <a:ext uri="{FF2B5EF4-FFF2-40B4-BE49-F238E27FC236}">
                <a16:creationId xmlns:a16="http://schemas.microsoft.com/office/drawing/2014/main" id="{039DE8D4-6D68-565F-D744-D82303E8F6D4}"/>
              </a:ext>
            </a:extLst>
          </p:cNvPr>
          <p:cNvSpPr txBox="1"/>
          <p:nvPr/>
        </p:nvSpPr>
        <p:spPr>
          <a:xfrm>
            <a:off x="347241" y="4785809"/>
            <a:ext cx="6146156" cy="646331"/>
          </a:xfrm>
          <a:prstGeom prst="rect">
            <a:avLst/>
          </a:prstGeom>
          <a:noFill/>
        </p:spPr>
        <p:txBody>
          <a:bodyPr wrap="square" rtlCol="0">
            <a:spAutoFit/>
          </a:bodyPr>
          <a:lstStyle/>
          <a:p>
            <a:r>
              <a:rPr kumimoji="1" lang="en-US" altLang="ja-JP" dirty="0"/>
              <a:t>Backend API</a:t>
            </a:r>
            <a:r>
              <a:rPr kumimoji="1" lang="ja-JP" altLang="en-US"/>
              <a:t>をリスト化したものです。ここで行なってほしいことは、</a:t>
            </a:r>
            <a:r>
              <a:rPr lang="en-US" altLang="ja-JP" dirty="0"/>
              <a:t>AbyssEye</a:t>
            </a:r>
            <a:r>
              <a:rPr kumimoji="1" lang="ja-JP" altLang="en-US"/>
              <a:t>の更新です。</a:t>
            </a:r>
          </a:p>
        </p:txBody>
      </p:sp>
      <p:sp>
        <p:nvSpPr>
          <p:cNvPr id="18" name="テキスト ボックス 17">
            <a:extLst>
              <a:ext uri="{FF2B5EF4-FFF2-40B4-BE49-F238E27FC236}">
                <a16:creationId xmlns:a16="http://schemas.microsoft.com/office/drawing/2014/main" id="{EC777CD4-8933-E602-9B55-FF6D28C37E89}"/>
              </a:ext>
            </a:extLst>
          </p:cNvPr>
          <p:cNvSpPr txBox="1"/>
          <p:nvPr/>
        </p:nvSpPr>
        <p:spPr>
          <a:xfrm>
            <a:off x="264689" y="5984878"/>
            <a:ext cx="11662622" cy="646331"/>
          </a:xfrm>
          <a:prstGeom prst="rect">
            <a:avLst/>
          </a:prstGeom>
          <a:noFill/>
        </p:spPr>
        <p:txBody>
          <a:bodyPr wrap="square" rtlCol="0">
            <a:spAutoFit/>
          </a:bodyPr>
          <a:lstStyle/>
          <a:p>
            <a:r>
              <a:rPr kumimoji="1" lang="ja-JP" altLang="en-US"/>
              <a:t>下にスクロールすると</a:t>
            </a:r>
            <a:r>
              <a:rPr kumimoji="1" lang="en-US" altLang="ja-JP" dirty="0"/>
              <a:t>git/pull</a:t>
            </a:r>
            <a:r>
              <a:rPr kumimoji="1" lang="ja-JP" altLang="en-US"/>
              <a:t>の項目があるので、開いて</a:t>
            </a:r>
            <a:r>
              <a:rPr kumimoji="1" lang="en-US" altLang="ja-JP" dirty="0"/>
              <a:t>Execute</a:t>
            </a:r>
            <a:r>
              <a:rPr kumimoji="1" lang="ja-JP" altLang="en-US"/>
              <a:t>を押すことで、開発者の変更を反映できます</a:t>
            </a:r>
            <a:r>
              <a:rPr lang="ja-JP" altLang="en-US"/>
              <a:t>。</a:t>
            </a:r>
            <a:endParaRPr lang="en-US" altLang="ja-JP" dirty="0"/>
          </a:p>
          <a:p>
            <a:r>
              <a:rPr kumimoji="1" lang="ja-JP" altLang="en-US"/>
              <a:t>更新のお願いがない時でも定期的に実施していただけたら幸いです。</a:t>
            </a:r>
            <a:endParaRPr kumimoji="1" lang="en-US" altLang="ja-JP" dirty="0"/>
          </a:p>
        </p:txBody>
      </p:sp>
    </p:spTree>
    <p:extLst>
      <p:ext uri="{BB962C8B-B14F-4D97-AF65-F5344CB8AC3E}">
        <p14:creationId xmlns:p14="http://schemas.microsoft.com/office/powerpoint/2010/main" val="80809825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5263</TotalTime>
  <Words>767</Words>
  <Application>Microsoft Macintosh PowerPoint</Application>
  <PresentationFormat>ワイド画面</PresentationFormat>
  <Paragraphs>84</Paragraphs>
  <Slides>13</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13</vt:i4>
      </vt:variant>
    </vt:vector>
  </HeadingPairs>
  <TitlesOfParts>
    <vt:vector size="17"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林　雅周</dc:creator>
  <cp:lastModifiedBy>林　雅周</cp:lastModifiedBy>
  <cp:revision>9</cp:revision>
  <dcterms:created xsi:type="dcterms:W3CDTF">2026-04-04T17:18:23Z</dcterms:created>
  <dcterms:modified xsi:type="dcterms:W3CDTF">2026-04-12T08:58:08Z</dcterms:modified>
</cp:coreProperties>
</file>